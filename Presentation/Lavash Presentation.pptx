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61" r:id="rId6"/>
    <p:sldId id="262" r:id="rId7"/>
    <p:sldId id="263" r:id="rId8"/>
    <p:sldId id="264" r:id="rId9"/>
    <p:sldId id="266" r:id="rId10"/>
    <p:sldId id="265" r:id="rId11"/>
    <p:sldId id="25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8312"/>
    <a:srgbClr val="4CBEDD"/>
    <a:srgbClr val="383639"/>
    <a:srgbClr val="D600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14"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66E870A-C249-450D-84D9-63C8DC8E7100}"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358518-EE10-4E0E-B1F6-6818656ABC38}"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4926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6E870A-C249-450D-84D9-63C8DC8E7100}"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358518-EE10-4E0E-B1F6-6818656ABC38}" type="slidenum">
              <a:rPr lang="en-US" smtClean="0"/>
              <a:t>‹#›</a:t>
            </a:fld>
            <a:endParaRPr lang="en-US"/>
          </a:p>
        </p:txBody>
      </p:sp>
    </p:spTree>
    <p:extLst>
      <p:ext uri="{BB962C8B-B14F-4D97-AF65-F5344CB8AC3E}">
        <p14:creationId xmlns:p14="http://schemas.microsoft.com/office/powerpoint/2010/main" val="2869738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6E870A-C249-450D-84D9-63C8DC8E7100}"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358518-EE10-4E0E-B1F6-6818656ABC38}"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999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6E870A-C249-450D-84D9-63C8DC8E7100}"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358518-EE10-4E0E-B1F6-6818656ABC38}" type="slidenum">
              <a:rPr lang="en-US" smtClean="0"/>
              <a:t>‹#›</a:t>
            </a:fld>
            <a:endParaRPr lang="en-US"/>
          </a:p>
        </p:txBody>
      </p:sp>
    </p:spTree>
    <p:extLst>
      <p:ext uri="{BB962C8B-B14F-4D97-AF65-F5344CB8AC3E}">
        <p14:creationId xmlns:p14="http://schemas.microsoft.com/office/powerpoint/2010/main" val="4272380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6E870A-C249-450D-84D9-63C8DC8E7100}" type="datetimeFigureOut">
              <a:rPr lang="en-US" smtClean="0"/>
              <a:t>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358518-EE10-4E0E-B1F6-6818656ABC38}" type="slidenum">
              <a:rPr lang="en-US" smtClean="0"/>
              <a:t>‹#›</a:t>
            </a:fld>
            <a:endParaRPr lang="en-US"/>
          </a:p>
        </p:txBody>
      </p:sp>
    </p:spTree>
    <p:extLst>
      <p:ext uri="{BB962C8B-B14F-4D97-AF65-F5344CB8AC3E}">
        <p14:creationId xmlns:p14="http://schemas.microsoft.com/office/powerpoint/2010/main" val="653972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6E870A-C249-450D-84D9-63C8DC8E7100}" type="datetimeFigureOut">
              <a:rPr lang="en-US" smtClean="0"/>
              <a:t>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358518-EE10-4E0E-B1F6-6818656ABC38}" type="slidenum">
              <a:rPr lang="en-US" smtClean="0"/>
              <a:t>‹#›</a:t>
            </a:fld>
            <a:endParaRPr lang="en-US"/>
          </a:p>
        </p:txBody>
      </p:sp>
    </p:spTree>
    <p:extLst>
      <p:ext uri="{BB962C8B-B14F-4D97-AF65-F5344CB8AC3E}">
        <p14:creationId xmlns:p14="http://schemas.microsoft.com/office/powerpoint/2010/main" val="867174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66E870A-C249-450D-84D9-63C8DC8E7100}" type="datetimeFigureOut">
              <a:rPr lang="en-US" smtClean="0"/>
              <a:t>1/3/2026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7358518-EE10-4E0E-B1F6-6818656ABC38}" type="slidenum">
              <a:rPr lang="en-US" smtClean="0"/>
              <a:t>‹#›</a:t>
            </a:fld>
            <a:endParaRPr lang="en-US"/>
          </a:p>
        </p:txBody>
      </p:sp>
    </p:spTree>
    <p:extLst>
      <p:ext uri="{BB962C8B-B14F-4D97-AF65-F5344CB8AC3E}">
        <p14:creationId xmlns:p14="http://schemas.microsoft.com/office/powerpoint/2010/main" val="1010256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66E870A-C249-450D-84D9-63C8DC8E7100}" type="datetimeFigureOut">
              <a:rPr lang="en-US" smtClean="0"/>
              <a:t>1/3/2026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7358518-EE10-4E0E-B1F6-6818656ABC38}" type="slidenum">
              <a:rPr lang="en-US" smtClean="0"/>
              <a:t>‹#›</a:t>
            </a:fld>
            <a:endParaRPr lang="en-US"/>
          </a:p>
        </p:txBody>
      </p:sp>
    </p:spTree>
    <p:extLst>
      <p:ext uri="{BB962C8B-B14F-4D97-AF65-F5344CB8AC3E}">
        <p14:creationId xmlns:p14="http://schemas.microsoft.com/office/powerpoint/2010/main" val="1092413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6E870A-C249-450D-84D9-63C8DC8E7100}"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358518-EE10-4E0E-B1F6-6818656ABC38}" type="slidenum">
              <a:rPr lang="en-US" smtClean="0"/>
              <a:t>‹#›</a:t>
            </a:fld>
            <a:endParaRPr lang="en-US"/>
          </a:p>
        </p:txBody>
      </p:sp>
    </p:spTree>
    <p:extLst>
      <p:ext uri="{BB962C8B-B14F-4D97-AF65-F5344CB8AC3E}">
        <p14:creationId xmlns:p14="http://schemas.microsoft.com/office/powerpoint/2010/main" val="3832016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6E870A-C249-450D-84D9-63C8DC8E7100}"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358518-EE10-4E0E-B1F6-6818656ABC38}" type="slidenum">
              <a:rPr lang="en-US" smtClean="0"/>
              <a:t>‹#›</a:t>
            </a:fld>
            <a:endParaRPr lang="en-US"/>
          </a:p>
        </p:txBody>
      </p:sp>
    </p:spTree>
    <p:extLst>
      <p:ext uri="{BB962C8B-B14F-4D97-AF65-F5344CB8AC3E}">
        <p14:creationId xmlns:p14="http://schemas.microsoft.com/office/powerpoint/2010/main" val="3070211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6E870A-C249-450D-84D9-63C8DC8E7100}"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358518-EE10-4E0E-B1F6-6818656ABC38}" type="slidenum">
              <a:rPr lang="en-US" smtClean="0"/>
              <a:t>‹#›</a:t>
            </a:fld>
            <a:endParaRPr lang="en-US"/>
          </a:p>
        </p:txBody>
      </p:sp>
    </p:spTree>
    <p:extLst>
      <p:ext uri="{BB962C8B-B14F-4D97-AF65-F5344CB8AC3E}">
        <p14:creationId xmlns:p14="http://schemas.microsoft.com/office/powerpoint/2010/main" val="2726576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66E870A-C249-450D-84D9-63C8DC8E7100}" type="datetimeFigureOut">
              <a:rPr lang="en-US" smtClean="0"/>
              <a:t>1/3/2026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7358518-EE10-4E0E-B1F6-6818656ABC38}"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00029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1.xml"/><Relationship Id="rId5" Type="http://schemas.openxmlformats.org/officeDocument/2006/relationships/image" Target="../media/image8.jp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youtu.be/OHYryvuz9c0"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144FA-0762-5DA0-2151-1C4643E8D101}"/>
              </a:ext>
            </a:extLst>
          </p:cNvPr>
          <p:cNvSpPr>
            <a:spLocks noGrp="1"/>
          </p:cNvSpPr>
          <p:nvPr>
            <p:ph type="ctrTitle"/>
          </p:nvPr>
        </p:nvSpPr>
        <p:spPr/>
        <p:txBody>
          <a:bodyPr/>
          <a:lstStyle/>
          <a:p>
            <a:r>
              <a:rPr lang="en-US" b="1" dirty="0">
                <a:effectLst>
                  <a:outerShdw blurRad="38100" dist="38100" dir="2700000" algn="tl">
                    <a:srgbClr val="000000">
                      <a:alpha val="43137"/>
                    </a:srgbClr>
                  </a:outerShdw>
                </a:effectLst>
                <a:latin typeface="ADLaM Display" panose="020F0502020204030204" pitchFamily="2" charset="0"/>
                <a:ea typeface="ADLaM Display" panose="020F0502020204030204" pitchFamily="2" charset="0"/>
                <a:cs typeface="ADLaM Display" panose="020F0502020204030204" pitchFamily="2" charset="0"/>
              </a:rPr>
              <a:t>Lavash - AR Game</a:t>
            </a:r>
            <a:endParaRPr lang="en-US" b="1" dirty="0">
              <a:effectLst>
                <a:outerShdw blurRad="38100" dist="38100" dir="2700000" algn="tl">
                  <a:srgbClr val="000000">
                    <a:alpha val="43137"/>
                  </a:srgbClr>
                </a:outerShdw>
              </a:effectLst>
            </a:endParaRPr>
          </a:p>
        </p:txBody>
      </p:sp>
      <p:sp>
        <p:nvSpPr>
          <p:cNvPr id="3" name="Subtitle 2">
            <a:extLst>
              <a:ext uri="{FF2B5EF4-FFF2-40B4-BE49-F238E27FC236}">
                <a16:creationId xmlns:a16="http://schemas.microsoft.com/office/drawing/2014/main" id="{3B9E1CD3-8216-5043-FCD5-8828792706A6}"/>
              </a:ext>
            </a:extLst>
          </p:cNvPr>
          <p:cNvSpPr>
            <a:spLocks noGrp="1"/>
          </p:cNvSpPr>
          <p:nvPr>
            <p:ph type="subTitle" idx="1"/>
          </p:nvPr>
        </p:nvSpPr>
        <p:spPr>
          <a:xfrm>
            <a:off x="4757651" y="4386609"/>
            <a:ext cx="6862130" cy="1143000"/>
          </a:xfrm>
        </p:spPr>
        <p:txBody>
          <a:bodyPr/>
          <a:lstStyle/>
          <a:p>
            <a:r>
              <a:rPr lang="en-US" dirty="0">
                <a:effectLst>
                  <a:outerShdw blurRad="38100" dist="38100" dir="2700000" algn="tl">
                    <a:srgbClr val="000000">
                      <a:alpha val="43137"/>
                    </a:srgbClr>
                  </a:outerShdw>
                </a:effectLst>
                <a:latin typeface="ADLaM Display" panose="02010000000000000000" pitchFamily="2" charset="0"/>
                <a:ea typeface="ADLaM Display" panose="02010000000000000000" pitchFamily="2" charset="0"/>
                <a:cs typeface="ADLaM Display" panose="02010000000000000000" pitchFamily="2" charset="0"/>
              </a:rPr>
              <a:t>- Codarcea Alexandru-Christian</a:t>
            </a:r>
          </a:p>
        </p:txBody>
      </p:sp>
    </p:spTree>
    <p:extLst>
      <p:ext uri="{BB962C8B-B14F-4D97-AF65-F5344CB8AC3E}">
        <p14:creationId xmlns:p14="http://schemas.microsoft.com/office/powerpoint/2010/main" val="5783231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D29607-56F4-E655-85AC-DD2CF8A4692B}"/>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C6E698C-8155-4B8B-BDC9-B7299772B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EEF5601-A8BC-411D-AA64-3E79320BA1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33209156-242F-4B26-8D07-CEB2B68A9F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473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1">
            <a:extLst>
              <a:ext uri="{FF2B5EF4-FFF2-40B4-BE49-F238E27FC236}">
                <a16:creationId xmlns:a16="http://schemas.microsoft.com/office/drawing/2014/main" id="{4185E0D2-584E-6605-9FA2-25FB8B175AB9}"/>
              </a:ext>
            </a:extLst>
          </p:cNvPr>
          <p:cNvSpPr txBox="1">
            <a:spLocks/>
          </p:cNvSpPr>
          <p:nvPr/>
        </p:nvSpPr>
        <p:spPr>
          <a:xfrm>
            <a:off x="4724070" y="98123"/>
            <a:ext cx="6164936" cy="96978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r>
              <a:rPr lang="en-US" sz="6000" b="1" u="sng" dirty="0">
                <a:effectLst>
                  <a:outerShdw blurRad="38100" dist="38100" dir="2700000" algn="tl">
                    <a:srgbClr val="000000">
                      <a:alpha val="43137"/>
                    </a:srgbClr>
                  </a:outerShdw>
                </a:effectLst>
                <a:latin typeface="ADLaM Display" panose="02010000000000000000" pitchFamily="2" charset="0"/>
                <a:ea typeface="ADLaM Display" panose="02010000000000000000" pitchFamily="2" charset="0"/>
                <a:cs typeface="ADLaM Display" panose="02010000000000000000" pitchFamily="2" charset="0"/>
              </a:rPr>
              <a:t>How it started</a:t>
            </a:r>
          </a:p>
        </p:txBody>
      </p:sp>
      <p:pic>
        <p:nvPicPr>
          <p:cNvPr id="20" name="Picture 19">
            <a:extLst>
              <a:ext uri="{FF2B5EF4-FFF2-40B4-BE49-F238E27FC236}">
                <a16:creationId xmlns:a16="http://schemas.microsoft.com/office/drawing/2014/main" id="{2CAB4C38-927B-0BD6-DDA8-0B82CA8E85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1791" y="4781600"/>
            <a:ext cx="1904861" cy="1904861"/>
          </a:xfrm>
          <a:prstGeom prst="ellipse">
            <a:avLst/>
          </a:prstGeom>
          <a:ln w="3175"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2" name="Picture 21">
            <a:extLst>
              <a:ext uri="{FF2B5EF4-FFF2-40B4-BE49-F238E27FC236}">
                <a16:creationId xmlns:a16="http://schemas.microsoft.com/office/drawing/2014/main" id="{79191B13-4DBB-739E-236B-BAF4618B5C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2994" y="286488"/>
            <a:ext cx="1782458" cy="1782458"/>
          </a:xfrm>
          <a:prstGeom prst="rect">
            <a:avLst/>
          </a:prstGeom>
        </p:spPr>
      </p:pic>
      <p:sp>
        <p:nvSpPr>
          <p:cNvPr id="25" name="Arrow: Right 24">
            <a:extLst>
              <a:ext uri="{FF2B5EF4-FFF2-40B4-BE49-F238E27FC236}">
                <a16:creationId xmlns:a16="http://schemas.microsoft.com/office/drawing/2014/main" id="{6538C003-165A-E175-E91B-A16C1B092001}"/>
              </a:ext>
            </a:extLst>
          </p:cNvPr>
          <p:cNvSpPr/>
          <p:nvPr/>
        </p:nvSpPr>
        <p:spPr>
          <a:xfrm rot="5400000">
            <a:off x="1132432" y="2903612"/>
            <a:ext cx="2123580" cy="1147759"/>
          </a:xfrm>
          <a:prstGeom prst="rightArrow">
            <a:avLst/>
          </a:prstGeom>
          <a:solidFill>
            <a:srgbClr val="E4831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effectLst>
                  <a:outerShdw blurRad="38100" dist="38100" dir="2700000" algn="tl">
                    <a:srgbClr val="000000">
                      <a:alpha val="43137"/>
                    </a:srgbClr>
                  </a:outerShdw>
                </a:effectLst>
                <a:latin typeface="ADLaM Display" panose="02010000000000000000" pitchFamily="2" charset="0"/>
                <a:ea typeface="ADLaM Display" panose="02010000000000000000" pitchFamily="2" charset="0"/>
                <a:cs typeface="ADLaM Display" panose="02010000000000000000" pitchFamily="2" charset="0"/>
              </a:rPr>
              <a:t>+ AR</a:t>
            </a:r>
          </a:p>
        </p:txBody>
      </p:sp>
      <p:sp>
        <p:nvSpPr>
          <p:cNvPr id="28" name="Title 1">
            <a:extLst>
              <a:ext uri="{FF2B5EF4-FFF2-40B4-BE49-F238E27FC236}">
                <a16:creationId xmlns:a16="http://schemas.microsoft.com/office/drawing/2014/main" id="{8D7A4C75-E372-69DA-9086-FED863699B71}"/>
              </a:ext>
            </a:extLst>
          </p:cNvPr>
          <p:cNvSpPr txBox="1">
            <a:spLocks/>
          </p:cNvSpPr>
          <p:nvPr/>
        </p:nvSpPr>
        <p:spPr>
          <a:xfrm>
            <a:off x="4724071" y="1241150"/>
            <a:ext cx="7400874" cy="5518727"/>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nSpc>
                <a:spcPct val="100000"/>
              </a:lnSpc>
            </a:pPr>
            <a:r>
              <a:rPr lang="en-US" sz="2400" dirty="0">
                <a:latin typeface="ADLaM Display" panose="02010000000000000000" pitchFamily="2" charset="0"/>
                <a:ea typeface="ADLaM Display" panose="02010000000000000000" pitchFamily="2" charset="0"/>
                <a:cs typeface="ADLaM Display" panose="02010000000000000000" pitchFamily="2" charset="0"/>
              </a:rPr>
              <a:t>  </a:t>
            </a:r>
            <a:r>
              <a:rPr lang="en-US" sz="2500" dirty="0">
                <a:latin typeface="ADLaM Display" panose="02010000000000000000" pitchFamily="2" charset="0"/>
                <a:ea typeface="ADLaM Display" panose="02010000000000000000" pitchFamily="2" charset="0"/>
                <a:cs typeface="ADLaM Display" panose="02010000000000000000" pitchFamily="2" charset="0"/>
              </a:rPr>
              <a:t>The genesis of </a:t>
            </a:r>
            <a:r>
              <a:rPr lang="en-US" sz="2500" i="1" dirty="0">
                <a:solidFill>
                  <a:srgbClr val="E48312"/>
                </a:solidFill>
                <a:latin typeface="ADLaM Display" panose="02010000000000000000" pitchFamily="2" charset="0"/>
                <a:ea typeface="ADLaM Display" panose="02010000000000000000" pitchFamily="2" charset="0"/>
                <a:cs typeface="ADLaM Display" panose="02010000000000000000" pitchFamily="2" charset="0"/>
              </a:rPr>
              <a:t>Lavash</a:t>
            </a:r>
            <a:r>
              <a:rPr lang="en-US" sz="2500" dirty="0">
                <a:latin typeface="ADLaM Display" panose="02010000000000000000" pitchFamily="2" charset="0"/>
                <a:ea typeface="ADLaM Display" panose="02010000000000000000" pitchFamily="2" charset="0"/>
                <a:cs typeface="ADLaM Display" panose="02010000000000000000" pitchFamily="2" charset="0"/>
              </a:rPr>
              <a:t>  began with a reimagining of the classic </a:t>
            </a:r>
            <a:r>
              <a:rPr lang="en-US" sz="2500" i="1" dirty="0">
                <a:solidFill>
                  <a:srgbClr val="D6002D"/>
                </a:solidFill>
                <a:latin typeface="ADLaM Display" panose="02010000000000000000" pitchFamily="2" charset="0"/>
                <a:ea typeface="ADLaM Display" panose="02010000000000000000" pitchFamily="2" charset="0"/>
                <a:cs typeface="ADLaM Display" panose="02010000000000000000" pitchFamily="2" charset="0"/>
              </a:rPr>
              <a:t>Angry Birds  </a:t>
            </a:r>
            <a:r>
              <a:rPr lang="en-US" sz="2500" dirty="0">
                <a:latin typeface="ADLaM Display" panose="02010000000000000000" pitchFamily="2" charset="0"/>
                <a:ea typeface="ADLaM Display" panose="02010000000000000000" pitchFamily="2" charset="0"/>
                <a:cs typeface="ADLaM Display" panose="02010000000000000000" pitchFamily="2" charset="0"/>
              </a:rPr>
              <a:t>formula, brought to life through the immersive lens of </a:t>
            </a:r>
            <a:r>
              <a:rPr lang="en-US" sz="2500" i="1" u="sng" dirty="0">
                <a:latin typeface="ADLaM Display" panose="02010000000000000000" pitchFamily="2" charset="0"/>
                <a:ea typeface="ADLaM Display" panose="02010000000000000000" pitchFamily="2" charset="0"/>
                <a:cs typeface="ADLaM Display" panose="02010000000000000000" pitchFamily="2" charset="0"/>
              </a:rPr>
              <a:t>Augmented Reality</a:t>
            </a:r>
            <a:r>
              <a:rPr lang="en-US" sz="2500" dirty="0">
                <a:latin typeface="ADLaM Display" panose="02010000000000000000" pitchFamily="2" charset="0"/>
                <a:ea typeface="ADLaM Display" panose="02010000000000000000" pitchFamily="2" charset="0"/>
                <a:cs typeface="ADLaM Display" panose="02010000000000000000" pitchFamily="2" charset="0"/>
              </a:rPr>
              <a:t>. While the satisfying physics of destruction served as the initial spark, the project’s true heartbeat lies in a fundamental shift in player agency. Unlike its predecessor, this game isn't limited to mere demolition. It introduces a core mechanic of construction, empowering players to build their own levels within their physical environment. This fusion transforms the experience from a simple arcade challenge into a creative sandbox where you are both the architect and the destroyer.</a:t>
            </a:r>
          </a:p>
        </p:txBody>
      </p:sp>
    </p:spTree>
    <p:extLst>
      <p:ext uri="{BB962C8B-B14F-4D97-AF65-F5344CB8AC3E}">
        <p14:creationId xmlns:p14="http://schemas.microsoft.com/office/powerpoint/2010/main" val="15503499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57D567-693E-465F-24E4-5D32B1C741FF}"/>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C12F757-8717-8F74-BF47-58AEF8085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6DFEFD5-94A2-6F8E-C9B1-C126C38C7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423A83D2-EEFE-27A4-D798-A0C4D625A2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473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1">
            <a:extLst>
              <a:ext uri="{FF2B5EF4-FFF2-40B4-BE49-F238E27FC236}">
                <a16:creationId xmlns:a16="http://schemas.microsoft.com/office/drawing/2014/main" id="{1089D48D-A5FC-B471-A54E-BAF6154EF4F4}"/>
              </a:ext>
            </a:extLst>
          </p:cNvPr>
          <p:cNvSpPr txBox="1">
            <a:spLocks/>
          </p:cNvSpPr>
          <p:nvPr/>
        </p:nvSpPr>
        <p:spPr>
          <a:xfrm>
            <a:off x="4648742" y="197475"/>
            <a:ext cx="6164936" cy="69845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r>
              <a:rPr lang="en-US" sz="6000" b="1" u="sng" dirty="0">
                <a:effectLst>
                  <a:outerShdw blurRad="38100" dist="38100" dir="2700000" algn="tl">
                    <a:srgbClr val="000000">
                      <a:alpha val="43137"/>
                    </a:srgbClr>
                  </a:outerShdw>
                </a:effectLst>
                <a:latin typeface="ADLaM Display" panose="02010000000000000000" pitchFamily="2" charset="0"/>
                <a:ea typeface="ADLaM Display" panose="02010000000000000000" pitchFamily="2" charset="0"/>
                <a:cs typeface="ADLaM Display" panose="02010000000000000000" pitchFamily="2" charset="0"/>
              </a:rPr>
              <a:t>Game Guide</a:t>
            </a:r>
          </a:p>
        </p:txBody>
      </p:sp>
      <p:sp>
        <p:nvSpPr>
          <p:cNvPr id="28" name="Title 1">
            <a:extLst>
              <a:ext uri="{FF2B5EF4-FFF2-40B4-BE49-F238E27FC236}">
                <a16:creationId xmlns:a16="http://schemas.microsoft.com/office/drawing/2014/main" id="{7B718BAF-A08E-2DAE-E3D7-38E96C8AF6F6}"/>
              </a:ext>
            </a:extLst>
          </p:cNvPr>
          <p:cNvSpPr txBox="1">
            <a:spLocks/>
          </p:cNvSpPr>
          <p:nvPr/>
        </p:nvSpPr>
        <p:spPr>
          <a:xfrm>
            <a:off x="4648742" y="895927"/>
            <a:ext cx="7543258" cy="5962073"/>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nSpc>
                <a:spcPct val="100000"/>
              </a:lnSpc>
            </a:pPr>
            <a:r>
              <a:rPr lang="en-US" sz="1600" dirty="0">
                <a:latin typeface="ADLaM Display" panose="02010000000000000000" pitchFamily="2" charset="0"/>
                <a:ea typeface="ADLaM Display" panose="02010000000000000000" pitchFamily="2" charset="0"/>
                <a:cs typeface="ADLaM Display" panose="02010000000000000000" pitchFamily="2" charset="0"/>
              </a:rPr>
              <a:t>  When you first open </a:t>
            </a:r>
            <a:r>
              <a:rPr lang="en-US" sz="1600" i="1" dirty="0">
                <a:solidFill>
                  <a:schemeClr val="accent1"/>
                </a:solidFill>
                <a:latin typeface="ADLaM Display" panose="02010000000000000000" pitchFamily="2" charset="0"/>
                <a:ea typeface="ADLaM Display" panose="02010000000000000000" pitchFamily="2" charset="0"/>
                <a:cs typeface="ADLaM Display" panose="02010000000000000000" pitchFamily="2" charset="0"/>
              </a:rPr>
              <a:t>Lavash</a:t>
            </a:r>
            <a:r>
              <a:rPr lang="en-US" sz="1600" dirty="0">
                <a:latin typeface="ADLaM Display" panose="02010000000000000000" pitchFamily="2" charset="0"/>
                <a:ea typeface="ADLaM Display" panose="02010000000000000000" pitchFamily="2" charset="0"/>
                <a:cs typeface="ADLaM Display" panose="02010000000000000000" pitchFamily="2" charset="0"/>
              </a:rPr>
              <a:t>, you will be greeted by background music and responsive audio effects. Here is how to navigate the main building interface:</a:t>
            </a:r>
          </a:p>
          <a:p>
            <a:pPr marL="342900" indent="-342900">
              <a:lnSpc>
                <a:spcPct val="100000"/>
              </a:lnSpc>
              <a:buClr>
                <a:srgbClr val="FF0000"/>
              </a:buClr>
              <a:buAutoNum type="arabicPeriod"/>
            </a:pPr>
            <a:r>
              <a:rPr lang="en-US" sz="1600" dirty="0">
                <a:latin typeface="ADLaM Display" panose="02010000000000000000" pitchFamily="2" charset="0"/>
                <a:ea typeface="ADLaM Display" panose="02010000000000000000" pitchFamily="2" charset="0"/>
                <a:cs typeface="ADLaM Display" panose="02010000000000000000" pitchFamily="2" charset="0"/>
              </a:rPr>
              <a:t>  </a:t>
            </a:r>
            <a:r>
              <a:rPr lang="en-US" sz="16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The Construction Zone</a:t>
            </a:r>
            <a:r>
              <a:rPr lang="en-US" sz="1600" dirty="0">
                <a:latin typeface="ADLaM Display" panose="02010000000000000000" pitchFamily="2" charset="0"/>
                <a:ea typeface="ADLaM Display" panose="02010000000000000000" pitchFamily="2" charset="0"/>
                <a:cs typeface="ADLaM Display" panose="02010000000000000000" pitchFamily="2" charset="0"/>
              </a:rPr>
              <a:t>: The game automatically detects flat surfaces in your room. The black outline highlights the detected plane. This area is your "canvas“ -&gt; you can only place blocks and build structures within this boundary.</a:t>
            </a:r>
          </a:p>
          <a:p>
            <a:pPr marL="342900" indent="-342900">
              <a:lnSpc>
                <a:spcPct val="100000"/>
              </a:lnSpc>
              <a:buClr>
                <a:srgbClr val="FF0000"/>
              </a:buClr>
              <a:buAutoNum type="arabicPeriod"/>
            </a:pPr>
            <a:r>
              <a:rPr lang="en-US" sz="1600" dirty="0">
                <a:latin typeface="ADLaM Display" panose="02010000000000000000" pitchFamily="2" charset="0"/>
                <a:ea typeface="ADLaM Display" panose="02010000000000000000" pitchFamily="2" charset="0"/>
                <a:cs typeface="ADLaM Display" panose="02010000000000000000" pitchFamily="2" charset="0"/>
              </a:rPr>
              <a:t>  </a:t>
            </a:r>
            <a:r>
              <a:rPr lang="en-US" sz="16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Building Bar</a:t>
            </a:r>
            <a:r>
              <a:rPr lang="en-US" sz="1600" dirty="0">
                <a:latin typeface="ADLaM Display" panose="02010000000000000000" pitchFamily="2" charset="0"/>
                <a:ea typeface="ADLaM Display" panose="02010000000000000000" pitchFamily="2" charset="0"/>
                <a:cs typeface="ADLaM Display" panose="02010000000000000000" pitchFamily="2" charset="0"/>
              </a:rPr>
              <a:t>: This is your inventory. It displays 3 meshes (building blocks) at a time. </a:t>
            </a:r>
            <a:br>
              <a:rPr lang="en-US" sz="1600" dirty="0">
                <a:latin typeface="ADLaM Display" panose="02010000000000000000" pitchFamily="2" charset="0"/>
                <a:ea typeface="ADLaM Display" panose="02010000000000000000" pitchFamily="2" charset="0"/>
                <a:cs typeface="ADLaM Display" panose="02010000000000000000" pitchFamily="2" charset="0"/>
              </a:rPr>
            </a:br>
            <a:r>
              <a:rPr lang="en-US" sz="1600" dirty="0">
                <a:latin typeface="ADLaM Display" panose="02010000000000000000" pitchFamily="2" charset="0"/>
                <a:ea typeface="ADLaM Display" panose="02010000000000000000" pitchFamily="2" charset="0"/>
                <a:cs typeface="ADLaM Display" panose="02010000000000000000" pitchFamily="2" charset="0"/>
              </a:rPr>
              <a:t> -</a:t>
            </a:r>
            <a:r>
              <a:rPr lang="en-US" sz="16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To Build</a:t>
            </a:r>
            <a:r>
              <a:rPr lang="en-US" sz="1600" dirty="0">
                <a:latin typeface="ADLaM Display" panose="02010000000000000000" pitchFamily="2" charset="0"/>
                <a:ea typeface="ADLaM Display" panose="02010000000000000000" pitchFamily="2" charset="0"/>
                <a:cs typeface="ADLaM Display" panose="02010000000000000000" pitchFamily="2" charset="0"/>
              </a:rPr>
              <a:t>: Tap a mesh to select it, then tap on the plane to place it.</a:t>
            </a:r>
            <a:br>
              <a:rPr lang="en-US" sz="1600" dirty="0">
                <a:latin typeface="ADLaM Display" panose="02010000000000000000" pitchFamily="2" charset="0"/>
                <a:ea typeface="ADLaM Display" panose="02010000000000000000" pitchFamily="2" charset="0"/>
                <a:cs typeface="ADLaM Display" panose="02010000000000000000" pitchFamily="2" charset="0"/>
              </a:rPr>
            </a:br>
            <a:r>
              <a:rPr lang="en-US" sz="1600" dirty="0">
                <a:latin typeface="ADLaM Display" panose="02010000000000000000" pitchFamily="2" charset="0"/>
                <a:ea typeface="ADLaM Display" panose="02010000000000000000" pitchFamily="2" charset="0"/>
                <a:cs typeface="ADLaM Display" panose="02010000000000000000" pitchFamily="2" charset="0"/>
              </a:rPr>
              <a:t> -</a:t>
            </a:r>
            <a:r>
              <a:rPr lang="en-US" sz="16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Navigation</a:t>
            </a:r>
            <a:r>
              <a:rPr lang="en-US" sz="1600" dirty="0">
                <a:latin typeface="ADLaM Display" panose="02010000000000000000" pitchFamily="2" charset="0"/>
                <a:ea typeface="ADLaM Display" panose="02010000000000000000" pitchFamily="2" charset="0"/>
                <a:cs typeface="ADLaM Display" panose="02010000000000000000" pitchFamily="2" charset="0"/>
              </a:rPr>
              <a:t>: Use the Left Arrow to cycle through all available options (9 building meshes and 3 scoring meshes).</a:t>
            </a:r>
            <a:br>
              <a:rPr lang="en-US" sz="1600" dirty="0">
                <a:latin typeface="ADLaM Display" panose="02010000000000000000" pitchFamily="2" charset="0"/>
                <a:ea typeface="ADLaM Display" panose="02010000000000000000" pitchFamily="2" charset="0"/>
                <a:cs typeface="ADLaM Display" panose="02010000000000000000" pitchFamily="2" charset="0"/>
              </a:rPr>
            </a:br>
            <a:r>
              <a:rPr lang="en-US" sz="1600" dirty="0">
                <a:latin typeface="ADLaM Display" panose="02010000000000000000" pitchFamily="2" charset="0"/>
                <a:ea typeface="ADLaM Display" panose="02010000000000000000" pitchFamily="2" charset="0"/>
                <a:cs typeface="ADLaM Display" panose="02010000000000000000" pitchFamily="2" charset="0"/>
              </a:rPr>
              <a:t> -</a:t>
            </a:r>
            <a:r>
              <a:rPr lang="en-US" sz="16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Visibility</a:t>
            </a:r>
            <a:r>
              <a:rPr lang="en-US" sz="1600" dirty="0">
                <a:latin typeface="ADLaM Display" panose="02010000000000000000" pitchFamily="2" charset="0"/>
                <a:ea typeface="ADLaM Display" panose="02010000000000000000" pitchFamily="2" charset="0"/>
                <a:cs typeface="ADLaM Display" panose="02010000000000000000" pitchFamily="2" charset="0"/>
              </a:rPr>
              <a:t>: Tap the Right Icon to hide the menu if you need a clearer view of your creation.</a:t>
            </a:r>
          </a:p>
          <a:p>
            <a:pPr marL="342900" indent="-342900">
              <a:lnSpc>
                <a:spcPct val="100000"/>
              </a:lnSpc>
              <a:buClr>
                <a:srgbClr val="FF0000"/>
              </a:buClr>
              <a:buAutoNum type="arabicPeriod"/>
            </a:pPr>
            <a:r>
              <a:rPr lang="en-US" sz="1600" dirty="0">
                <a:latin typeface="ADLaM Display" panose="02010000000000000000" pitchFamily="2" charset="0"/>
                <a:ea typeface="ADLaM Display" panose="02010000000000000000" pitchFamily="2" charset="0"/>
                <a:cs typeface="ADLaM Display" panose="02010000000000000000" pitchFamily="2" charset="0"/>
              </a:rPr>
              <a:t>  </a:t>
            </a:r>
            <a:r>
              <a:rPr lang="en-US" sz="16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Start Button</a:t>
            </a:r>
            <a:r>
              <a:rPr lang="en-US" sz="1600" dirty="0">
                <a:latin typeface="ADLaM Display" panose="02010000000000000000" pitchFamily="2" charset="0"/>
                <a:ea typeface="ADLaM Display" panose="02010000000000000000" pitchFamily="2" charset="0"/>
                <a:cs typeface="ADLaM Display" panose="02010000000000000000" pitchFamily="2" charset="0"/>
              </a:rPr>
              <a:t>: When you are done building, hit Start. This enables real-world physics (gravity will take effect) and begins the game timer. The time allowed to complete the level is exactly half (1/2) the time you spent building it.</a:t>
            </a:r>
          </a:p>
          <a:p>
            <a:pPr marL="342900" indent="-342900">
              <a:lnSpc>
                <a:spcPct val="100000"/>
              </a:lnSpc>
              <a:buClr>
                <a:srgbClr val="FF0000"/>
              </a:buClr>
              <a:buAutoNum type="arabicPeriod"/>
            </a:pPr>
            <a:r>
              <a:rPr lang="en-US" sz="1600" dirty="0">
                <a:latin typeface="ADLaM Display" panose="02010000000000000000" pitchFamily="2" charset="0"/>
                <a:ea typeface="ADLaM Display" panose="02010000000000000000" pitchFamily="2" charset="0"/>
                <a:cs typeface="ADLaM Display" panose="02010000000000000000" pitchFamily="2" charset="0"/>
              </a:rPr>
              <a:t>  </a:t>
            </a:r>
            <a:r>
              <a:rPr lang="en-US" sz="16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Reset Button (Soft Refresh)</a:t>
            </a:r>
            <a:r>
              <a:rPr lang="en-US"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r>
              <a:rPr lang="en-US" sz="16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 </a:t>
            </a:r>
            <a:r>
              <a:rPr lang="en-US" sz="1600" dirty="0">
                <a:latin typeface="ADLaM Display" panose="02010000000000000000" pitchFamily="2" charset="0"/>
                <a:ea typeface="ADLaM Display" panose="02010000000000000000" pitchFamily="2" charset="0"/>
                <a:cs typeface="ADLaM Display" panose="02010000000000000000" pitchFamily="2" charset="0"/>
              </a:rPr>
              <a:t>Use this if your structure collapses immediately or doesn't sit right. It resets all objects to their original positions (before physics were enabled) so you can adjust them. This does NOT stop or reset the background timer.</a:t>
            </a:r>
          </a:p>
          <a:p>
            <a:pPr marL="342900" indent="-342900">
              <a:lnSpc>
                <a:spcPct val="100000"/>
              </a:lnSpc>
              <a:buClr>
                <a:srgbClr val="FF0000"/>
              </a:buClr>
              <a:buAutoNum type="arabicPeriod"/>
            </a:pPr>
            <a:r>
              <a:rPr lang="en-US" sz="1600" dirty="0">
                <a:latin typeface="ADLaM Display" panose="02010000000000000000" pitchFamily="2" charset="0"/>
                <a:ea typeface="ADLaM Display" panose="02010000000000000000" pitchFamily="2" charset="0"/>
                <a:cs typeface="ADLaM Display" panose="02010000000000000000" pitchFamily="2" charset="0"/>
              </a:rPr>
              <a:t>  </a:t>
            </a:r>
            <a:r>
              <a:rPr lang="en-US" sz="16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Restart Button (Fresh Start): </a:t>
            </a:r>
            <a:r>
              <a:rPr lang="en-US" sz="1600" dirty="0">
                <a:latin typeface="ADLaM Display" panose="02010000000000000000" pitchFamily="2" charset="0"/>
                <a:ea typeface="ADLaM Display" panose="02010000000000000000" pitchFamily="2" charset="0"/>
                <a:cs typeface="ADLaM Display" panose="02010000000000000000" pitchFamily="2" charset="0"/>
              </a:rPr>
              <a:t>This is a complete wipe. It destroys all objects you have built and resets the timer to zero, allowing you to start a new level from scratch.</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3" name="Picture 2">
            <a:extLst>
              <a:ext uri="{FF2B5EF4-FFF2-40B4-BE49-F238E27FC236}">
                <a16:creationId xmlns:a16="http://schemas.microsoft.com/office/drawing/2014/main" id="{1FD7936D-B00F-FD11-88CA-54D6E27977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698" y="151538"/>
            <a:ext cx="3104628" cy="6554924"/>
          </a:xfrm>
          <a:prstGeom prst="rect">
            <a:avLst/>
          </a:prstGeom>
          <a:effectLst>
            <a:glow rad="152400">
              <a:schemeClr val="tx1">
                <a:alpha val="90000"/>
              </a:schemeClr>
            </a:glow>
            <a:softEdge rad="0"/>
          </a:effectLst>
        </p:spPr>
      </p:pic>
      <p:sp>
        <p:nvSpPr>
          <p:cNvPr id="5" name="TextBox 4">
            <a:extLst>
              <a:ext uri="{FF2B5EF4-FFF2-40B4-BE49-F238E27FC236}">
                <a16:creationId xmlns:a16="http://schemas.microsoft.com/office/drawing/2014/main" id="{864B3721-C771-0D29-B3B2-1EBCECCADAE7}"/>
              </a:ext>
            </a:extLst>
          </p:cNvPr>
          <p:cNvSpPr txBox="1"/>
          <p:nvPr/>
        </p:nvSpPr>
        <p:spPr>
          <a:xfrm>
            <a:off x="1625600" y="3271982"/>
            <a:ext cx="572654" cy="523220"/>
          </a:xfrm>
          <a:prstGeom prst="rect">
            <a:avLst/>
          </a:prstGeom>
          <a:noFill/>
        </p:spPr>
        <p:txBody>
          <a:bodyPr wrap="square" rtlCol="0">
            <a:spAutoFit/>
          </a:bodyPr>
          <a:lstStyle/>
          <a:p>
            <a:r>
              <a:rPr lang="en-US" sz="28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1</a:t>
            </a:r>
            <a:endParaRPr lang="en-US" sz="28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TextBox 5">
            <a:extLst>
              <a:ext uri="{FF2B5EF4-FFF2-40B4-BE49-F238E27FC236}">
                <a16:creationId xmlns:a16="http://schemas.microsoft.com/office/drawing/2014/main" id="{BB6B44CA-E060-26EF-2647-AB8E68FBD2C2}"/>
              </a:ext>
            </a:extLst>
          </p:cNvPr>
          <p:cNvSpPr txBox="1"/>
          <p:nvPr/>
        </p:nvSpPr>
        <p:spPr>
          <a:xfrm>
            <a:off x="1911927" y="5915890"/>
            <a:ext cx="572654" cy="461665"/>
          </a:xfrm>
          <a:prstGeom prst="rect">
            <a:avLst/>
          </a:prstGeom>
          <a:noFill/>
        </p:spPr>
        <p:txBody>
          <a:bodyPr wrap="square" rtlCol="0">
            <a:spAutoFit/>
          </a:bodyPr>
          <a:lstStyle/>
          <a:p>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2</a:t>
            </a: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7" name="TextBox 6">
            <a:extLst>
              <a:ext uri="{FF2B5EF4-FFF2-40B4-BE49-F238E27FC236}">
                <a16:creationId xmlns:a16="http://schemas.microsoft.com/office/drawing/2014/main" id="{63E9E2AF-ED54-176C-E834-39769F630C3C}"/>
              </a:ext>
            </a:extLst>
          </p:cNvPr>
          <p:cNvSpPr txBox="1"/>
          <p:nvPr/>
        </p:nvSpPr>
        <p:spPr>
          <a:xfrm>
            <a:off x="2798618" y="4813312"/>
            <a:ext cx="572654" cy="461665"/>
          </a:xfrm>
          <a:prstGeom prst="rect">
            <a:avLst/>
          </a:prstGeom>
          <a:noFill/>
        </p:spPr>
        <p:txBody>
          <a:bodyPr wrap="square" rtlCol="0">
            <a:spAutoFit/>
          </a:bodyPr>
          <a:lstStyle/>
          <a:p>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3</a:t>
            </a: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8" name="TextBox 7">
            <a:extLst>
              <a:ext uri="{FF2B5EF4-FFF2-40B4-BE49-F238E27FC236}">
                <a16:creationId xmlns:a16="http://schemas.microsoft.com/office/drawing/2014/main" id="{D6BBD224-8AD0-22EA-C13E-4DA43409F9A3}"/>
              </a:ext>
            </a:extLst>
          </p:cNvPr>
          <p:cNvSpPr txBox="1"/>
          <p:nvPr/>
        </p:nvSpPr>
        <p:spPr>
          <a:xfrm>
            <a:off x="2798618" y="5263510"/>
            <a:ext cx="572654" cy="461665"/>
          </a:xfrm>
          <a:prstGeom prst="rect">
            <a:avLst/>
          </a:prstGeom>
          <a:noFill/>
        </p:spPr>
        <p:txBody>
          <a:bodyPr wrap="square" rtlCol="0">
            <a:spAutoFit/>
          </a:bodyPr>
          <a:lstStyle/>
          <a:p>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4</a:t>
            </a: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9" name="TextBox 8">
            <a:extLst>
              <a:ext uri="{FF2B5EF4-FFF2-40B4-BE49-F238E27FC236}">
                <a16:creationId xmlns:a16="http://schemas.microsoft.com/office/drawing/2014/main" id="{5FD53773-FA68-3F02-E6D5-701A1BEEA27D}"/>
              </a:ext>
            </a:extLst>
          </p:cNvPr>
          <p:cNvSpPr txBox="1"/>
          <p:nvPr/>
        </p:nvSpPr>
        <p:spPr>
          <a:xfrm>
            <a:off x="2798618" y="5754153"/>
            <a:ext cx="572654" cy="461665"/>
          </a:xfrm>
          <a:prstGeom prst="rect">
            <a:avLst/>
          </a:prstGeom>
          <a:noFill/>
        </p:spPr>
        <p:txBody>
          <a:bodyPr wrap="square" rtlCol="0">
            <a:spAutoFit/>
          </a:bodyPr>
          <a:lstStyle/>
          <a:p>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5</a:t>
            </a: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6661844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2139F7-BAE3-D49F-0F40-329BF3C74A4A}"/>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F46853F-CE72-37F5-5A2B-B026E3642B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FF6C449-F77D-A16B-BE12-2AB19FE6D1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6D4B5934-0A43-D795-3E5B-B8BA54F82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473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Title 1">
            <a:extLst>
              <a:ext uri="{FF2B5EF4-FFF2-40B4-BE49-F238E27FC236}">
                <a16:creationId xmlns:a16="http://schemas.microsoft.com/office/drawing/2014/main" id="{F735D900-E774-C8CC-AB30-199A112499F4}"/>
              </a:ext>
            </a:extLst>
          </p:cNvPr>
          <p:cNvSpPr txBox="1">
            <a:spLocks/>
          </p:cNvSpPr>
          <p:nvPr/>
        </p:nvSpPr>
        <p:spPr>
          <a:xfrm>
            <a:off x="4655714" y="206778"/>
            <a:ext cx="7545930" cy="6299201"/>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nSpc>
                <a:spcPct val="100000"/>
              </a:lnSpc>
            </a:pPr>
            <a:r>
              <a:rPr lang="en-US" sz="1800" dirty="0">
                <a:latin typeface="ADLaM Display" panose="02010000000000000000" pitchFamily="2" charset="0"/>
                <a:ea typeface="ADLaM Display" panose="02010000000000000000" pitchFamily="2" charset="0"/>
                <a:cs typeface="ADLaM Display" panose="02010000000000000000" pitchFamily="2" charset="0"/>
              </a:rPr>
              <a:t>  You might notice the interface layout shifts depending on how you hold your device. </a:t>
            </a:r>
            <a:r>
              <a:rPr lang="en-US" sz="1800" i="1" dirty="0">
                <a:solidFill>
                  <a:srgbClr val="E48312"/>
                </a:solidFill>
                <a:latin typeface="ADLaM Display" panose="02010000000000000000" pitchFamily="2" charset="0"/>
                <a:ea typeface="ADLaM Display" panose="02010000000000000000" pitchFamily="2" charset="0"/>
                <a:cs typeface="ADLaM Display" panose="02010000000000000000" pitchFamily="2" charset="0"/>
              </a:rPr>
              <a:t>Lavash</a:t>
            </a:r>
            <a:r>
              <a:rPr lang="en-US" sz="1800" dirty="0">
                <a:latin typeface="ADLaM Display" panose="02010000000000000000" pitchFamily="2" charset="0"/>
                <a:ea typeface="ADLaM Display" panose="02010000000000000000" pitchFamily="2" charset="0"/>
                <a:cs typeface="ADLaM Display" panose="02010000000000000000" pitchFamily="2" charset="0"/>
              </a:rPr>
              <a:t> is designed to be fully adaptive, working seamlessly in both </a:t>
            </a:r>
            <a:r>
              <a:rPr lang="en-US" sz="18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Portrait</a:t>
            </a:r>
            <a:r>
              <a:rPr lang="en-US" sz="1800" dirty="0">
                <a:latin typeface="ADLaM Display" panose="02010000000000000000" pitchFamily="2" charset="0"/>
                <a:ea typeface="ADLaM Display" panose="02010000000000000000" pitchFamily="2" charset="0"/>
                <a:cs typeface="ADLaM Display" panose="02010000000000000000" pitchFamily="2" charset="0"/>
              </a:rPr>
              <a:t> and </a:t>
            </a:r>
            <a:r>
              <a:rPr lang="en-US" sz="18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Landscape</a:t>
            </a:r>
            <a:r>
              <a:rPr lang="en-US" sz="1800" dirty="0">
                <a:latin typeface="ADLaM Display" panose="02010000000000000000" pitchFamily="2" charset="0"/>
                <a:ea typeface="ADLaM Display" panose="02010000000000000000" pitchFamily="2" charset="0"/>
                <a:cs typeface="ADLaM Display" panose="02010000000000000000" pitchFamily="2" charset="0"/>
              </a:rPr>
              <a:t> modes. Simply rotate your phone to get the best angle for your creation, and the controls will automatically rearrange themselves to fit your screen.</a:t>
            </a:r>
          </a:p>
          <a:p>
            <a:pPr>
              <a:lnSpc>
                <a:spcPct val="100000"/>
              </a:lnSpc>
            </a:pPr>
            <a:r>
              <a:rPr lang="en-US" sz="1800" dirty="0">
                <a:latin typeface="ADLaM Display" panose="02010000000000000000" pitchFamily="2" charset="0"/>
                <a:ea typeface="ADLaM Display" panose="02010000000000000000" pitchFamily="2" charset="0"/>
                <a:cs typeface="ADLaM Display" panose="02010000000000000000" pitchFamily="2" charset="0"/>
              </a:rPr>
              <a:t> Once you place an object, tap it to enter </a:t>
            </a:r>
            <a:r>
              <a:rPr lang="en-US" sz="18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Edit Mode</a:t>
            </a:r>
            <a:r>
              <a:rPr lang="en-US" sz="1800" dirty="0">
                <a:latin typeface="ADLaM Display" panose="02010000000000000000" pitchFamily="2" charset="0"/>
                <a:ea typeface="ADLaM Display" panose="02010000000000000000" pitchFamily="2" charset="0"/>
                <a:cs typeface="ADLaM Display" panose="02010000000000000000" pitchFamily="2" charset="0"/>
              </a:rPr>
              <a:t>. You will know it is selected when a blue outline appears around it. A new menu will pop up at the top, giving you full control over the object:</a:t>
            </a:r>
          </a:p>
          <a:p>
            <a:pPr marL="342900" indent="-342900">
              <a:lnSpc>
                <a:spcPct val="100000"/>
              </a:lnSpc>
              <a:buClr>
                <a:srgbClr val="FF0000"/>
              </a:buClr>
              <a:buAutoNum type="arabicPeriod"/>
            </a:pPr>
            <a:r>
              <a:rPr lang="en-US" sz="1800" dirty="0">
                <a:latin typeface="ADLaM Display" panose="02010000000000000000" pitchFamily="2" charset="0"/>
                <a:ea typeface="ADLaM Display" panose="02010000000000000000" pitchFamily="2" charset="0"/>
                <a:cs typeface="ADLaM Display" panose="02010000000000000000" pitchFamily="2" charset="0"/>
              </a:rPr>
              <a:t>  </a:t>
            </a:r>
            <a:r>
              <a:rPr lang="en-US" sz="18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Scale Tool</a:t>
            </a:r>
            <a:r>
              <a:rPr lang="en-US" sz="1800" dirty="0">
                <a:latin typeface="ADLaM Display" panose="02010000000000000000" pitchFamily="2" charset="0"/>
                <a:ea typeface="ADLaM Display" panose="02010000000000000000" pitchFamily="2" charset="0"/>
                <a:cs typeface="ADLaM Display" panose="02010000000000000000" pitchFamily="2" charset="0"/>
              </a:rPr>
              <a:t>: Tap this icon to resize your object. You can drag to make the block smaller or larger.</a:t>
            </a:r>
          </a:p>
          <a:p>
            <a:pPr marL="342900" indent="-342900">
              <a:lnSpc>
                <a:spcPct val="100000"/>
              </a:lnSpc>
              <a:buClr>
                <a:srgbClr val="FF0000"/>
              </a:buClr>
              <a:buAutoNum type="arabicPeriod"/>
            </a:pPr>
            <a:r>
              <a:rPr lang="en-US" sz="1800" dirty="0">
                <a:latin typeface="ADLaM Display" panose="02010000000000000000" pitchFamily="2" charset="0"/>
                <a:ea typeface="ADLaM Display" panose="02010000000000000000" pitchFamily="2" charset="0"/>
                <a:cs typeface="ADLaM Display" panose="02010000000000000000" pitchFamily="2" charset="0"/>
              </a:rPr>
              <a:t>  </a:t>
            </a:r>
            <a:r>
              <a:rPr lang="en-US" sz="18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Move Tool</a:t>
            </a:r>
            <a:r>
              <a:rPr lang="en-US" sz="1800" dirty="0">
                <a:latin typeface="ADLaM Display" panose="02010000000000000000" pitchFamily="2" charset="0"/>
                <a:ea typeface="ADLaM Display" panose="02010000000000000000" pitchFamily="2" charset="0"/>
                <a:cs typeface="ADLaM Display" panose="02010000000000000000" pitchFamily="2" charset="0"/>
              </a:rPr>
              <a:t>: Select this to precisely adjust the object's position. This tool allows you to slide the object along the X, Y, and Z axes.</a:t>
            </a:r>
          </a:p>
          <a:p>
            <a:pPr marL="342900" indent="-342900">
              <a:lnSpc>
                <a:spcPct val="100000"/>
              </a:lnSpc>
              <a:buClr>
                <a:srgbClr val="FF0000"/>
              </a:buClr>
              <a:buAutoNum type="arabicPeriod"/>
            </a:pPr>
            <a:r>
              <a:rPr lang="en-US" sz="1800" dirty="0">
                <a:latin typeface="ADLaM Display" panose="02010000000000000000" pitchFamily="2" charset="0"/>
                <a:ea typeface="ADLaM Display" panose="02010000000000000000" pitchFamily="2" charset="0"/>
                <a:cs typeface="ADLaM Display" panose="02010000000000000000" pitchFamily="2" charset="0"/>
              </a:rPr>
              <a:t>  </a:t>
            </a:r>
            <a:r>
              <a:rPr lang="en-US" sz="18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Rotate Tool</a:t>
            </a:r>
            <a:r>
              <a:rPr lang="en-US" sz="1800" dirty="0">
                <a:latin typeface="ADLaM Display" panose="02010000000000000000" pitchFamily="2" charset="0"/>
                <a:ea typeface="ADLaM Display" panose="02010000000000000000" pitchFamily="2" charset="0"/>
                <a:cs typeface="ADLaM Display" panose="02010000000000000000" pitchFamily="2" charset="0"/>
              </a:rPr>
              <a:t>: Tap here to spin the object. This rotates the mesh left or right around its vertical axis (Y-axis).</a:t>
            </a:r>
          </a:p>
          <a:p>
            <a:pPr marL="342900" indent="-342900">
              <a:lnSpc>
                <a:spcPct val="100000"/>
              </a:lnSpc>
              <a:buClr>
                <a:srgbClr val="FF0000"/>
              </a:buClr>
              <a:buAutoNum type="arabicPeriod"/>
            </a:pPr>
            <a:r>
              <a:rPr lang="en-US" sz="18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  Reset Rotation</a:t>
            </a:r>
            <a:r>
              <a:rPr lang="en-US" sz="1800" dirty="0">
                <a:latin typeface="ADLaM Display" panose="02010000000000000000" pitchFamily="2" charset="0"/>
                <a:ea typeface="ADLaM Display" panose="02010000000000000000" pitchFamily="2" charset="0"/>
                <a:cs typeface="ADLaM Display" panose="02010000000000000000" pitchFamily="2" charset="0"/>
              </a:rPr>
              <a:t>: If you want to undo your spins, this button instantly snaps the object back to its original, straight orientation.</a:t>
            </a:r>
          </a:p>
          <a:p>
            <a:pPr marL="342900" indent="-342900">
              <a:lnSpc>
                <a:spcPct val="100000"/>
              </a:lnSpc>
              <a:buClr>
                <a:srgbClr val="FF0000"/>
              </a:buClr>
              <a:buAutoNum type="arabicPeriod"/>
            </a:pPr>
            <a:r>
              <a:rPr lang="en-US" sz="18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  Delete</a:t>
            </a:r>
            <a:r>
              <a:rPr lang="en-US" sz="1800" dirty="0">
                <a:latin typeface="ADLaM Display" panose="02010000000000000000" pitchFamily="2" charset="0"/>
                <a:ea typeface="ADLaM Display" panose="02010000000000000000" pitchFamily="2" charset="0"/>
                <a:cs typeface="ADLaM Display" panose="02010000000000000000" pitchFamily="2" charset="0"/>
              </a:rPr>
              <a:t>: If you no longer need a block, press the Trash Icon (Red X) to remove it from the scene completely.</a:t>
            </a:r>
          </a:p>
          <a:p>
            <a:pPr>
              <a:lnSpc>
                <a:spcPct val="100000"/>
              </a:lnSpc>
              <a:buClr>
                <a:srgbClr val="FF0000"/>
              </a:buClr>
            </a:pPr>
            <a:r>
              <a:rPr lang="en-US" sz="1800" dirty="0">
                <a:latin typeface="ADLaM Display" panose="02010000000000000000" pitchFamily="2" charset="0"/>
                <a:ea typeface="ADLaM Display" panose="02010000000000000000" pitchFamily="2" charset="0"/>
                <a:cs typeface="ADLaM Display" panose="02010000000000000000" pitchFamily="2" charset="0"/>
              </a:rPr>
              <a:t> When using the Scale, Move, or Rotate tools, a small blue 'X' box will appear above the object. Tap it to confirm your adjustment and close that specific tool. To stop editing an object entirely, simply tap anywhere else on the screen or tap to select a different block.</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a:extLst>
              <a:ext uri="{FF2B5EF4-FFF2-40B4-BE49-F238E27FC236}">
                <a16:creationId xmlns:a16="http://schemas.microsoft.com/office/drawing/2014/main" id="{5C40A37A-457C-3766-552C-67EABC08EA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304" y="129140"/>
            <a:ext cx="4256126" cy="2015841"/>
          </a:xfrm>
          <a:prstGeom prst="rect">
            <a:avLst/>
          </a:prstGeom>
          <a:effectLst>
            <a:glow rad="152400">
              <a:schemeClr val="tx1">
                <a:alpha val="90000"/>
              </a:schemeClr>
            </a:glow>
          </a:effectLst>
        </p:spPr>
      </p:pic>
      <p:sp>
        <p:nvSpPr>
          <p:cNvPr id="5" name="TextBox 4">
            <a:extLst>
              <a:ext uri="{FF2B5EF4-FFF2-40B4-BE49-F238E27FC236}">
                <a16:creationId xmlns:a16="http://schemas.microsoft.com/office/drawing/2014/main" id="{38331ACD-C906-3802-228E-C1348DE546C7}"/>
              </a:ext>
            </a:extLst>
          </p:cNvPr>
          <p:cNvSpPr txBox="1"/>
          <p:nvPr/>
        </p:nvSpPr>
        <p:spPr>
          <a:xfrm>
            <a:off x="1251490" y="360782"/>
            <a:ext cx="572654" cy="461665"/>
          </a:xfrm>
          <a:prstGeom prst="rect">
            <a:avLst/>
          </a:prstGeom>
          <a:noFill/>
        </p:spPr>
        <p:txBody>
          <a:bodyPr wrap="square" rtlCol="0">
            <a:spAutoFit/>
          </a:bodyPr>
          <a:lstStyle/>
          <a:p>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1</a:t>
            </a: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TextBox 5">
            <a:extLst>
              <a:ext uri="{FF2B5EF4-FFF2-40B4-BE49-F238E27FC236}">
                <a16:creationId xmlns:a16="http://schemas.microsoft.com/office/drawing/2014/main" id="{9305142C-1221-31EC-DAB6-83D56ACEE076}"/>
              </a:ext>
            </a:extLst>
          </p:cNvPr>
          <p:cNvSpPr txBox="1"/>
          <p:nvPr/>
        </p:nvSpPr>
        <p:spPr>
          <a:xfrm>
            <a:off x="1923082" y="399681"/>
            <a:ext cx="572654" cy="461665"/>
          </a:xfrm>
          <a:prstGeom prst="rect">
            <a:avLst/>
          </a:prstGeom>
          <a:noFill/>
        </p:spPr>
        <p:txBody>
          <a:bodyPr wrap="square" rtlCol="0">
            <a:spAutoFit/>
          </a:bodyPr>
          <a:lstStyle/>
          <a:p>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2</a:t>
            </a: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7" name="TextBox 6">
            <a:extLst>
              <a:ext uri="{FF2B5EF4-FFF2-40B4-BE49-F238E27FC236}">
                <a16:creationId xmlns:a16="http://schemas.microsoft.com/office/drawing/2014/main" id="{6BCF8FE7-925E-297D-500C-9F80D0B24FEE}"/>
              </a:ext>
            </a:extLst>
          </p:cNvPr>
          <p:cNvSpPr txBox="1"/>
          <p:nvPr/>
        </p:nvSpPr>
        <p:spPr>
          <a:xfrm>
            <a:off x="2559744" y="426341"/>
            <a:ext cx="572654" cy="461665"/>
          </a:xfrm>
          <a:prstGeom prst="rect">
            <a:avLst/>
          </a:prstGeom>
          <a:noFill/>
        </p:spPr>
        <p:txBody>
          <a:bodyPr wrap="square" rtlCol="0">
            <a:spAutoFit/>
          </a:bodyPr>
          <a:lstStyle/>
          <a:p>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3</a:t>
            </a: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8" name="TextBox 7">
            <a:extLst>
              <a:ext uri="{FF2B5EF4-FFF2-40B4-BE49-F238E27FC236}">
                <a16:creationId xmlns:a16="http://schemas.microsoft.com/office/drawing/2014/main" id="{214107CE-1FA9-94BA-F2CE-0811AEE9B4C5}"/>
              </a:ext>
            </a:extLst>
          </p:cNvPr>
          <p:cNvSpPr txBox="1"/>
          <p:nvPr/>
        </p:nvSpPr>
        <p:spPr>
          <a:xfrm>
            <a:off x="3100787" y="566454"/>
            <a:ext cx="572654" cy="461665"/>
          </a:xfrm>
          <a:prstGeom prst="rect">
            <a:avLst/>
          </a:prstGeom>
          <a:noFill/>
        </p:spPr>
        <p:txBody>
          <a:bodyPr wrap="square" rtlCol="0">
            <a:spAutoFit/>
          </a:bodyPr>
          <a:lstStyle/>
          <a:p>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4</a:t>
            </a: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9" name="TextBox 8">
            <a:extLst>
              <a:ext uri="{FF2B5EF4-FFF2-40B4-BE49-F238E27FC236}">
                <a16:creationId xmlns:a16="http://schemas.microsoft.com/office/drawing/2014/main" id="{DB6CF370-8F65-749B-7730-52E0B03200F3}"/>
              </a:ext>
            </a:extLst>
          </p:cNvPr>
          <p:cNvSpPr txBox="1"/>
          <p:nvPr/>
        </p:nvSpPr>
        <p:spPr>
          <a:xfrm>
            <a:off x="3542328" y="620714"/>
            <a:ext cx="572654" cy="461665"/>
          </a:xfrm>
          <a:prstGeom prst="rect">
            <a:avLst/>
          </a:prstGeom>
          <a:noFill/>
        </p:spPr>
        <p:txBody>
          <a:bodyPr wrap="square" rtlCol="0">
            <a:spAutoFit/>
          </a:bodyPr>
          <a:lstStyle/>
          <a:p>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5</a:t>
            </a: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7" name="Picture 16">
            <a:extLst>
              <a:ext uri="{FF2B5EF4-FFF2-40B4-BE49-F238E27FC236}">
                <a16:creationId xmlns:a16="http://schemas.microsoft.com/office/drawing/2014/main" id="{890FFF1A-5E2A-DDF0-2830-6E17D7E435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344" y="4056022"/>
            <a:ext cx="1281770" cy="2702853"/>
          </a:xfrm>
          <a:prstGeom prst="rect">
            <a:avLst/>
          </a:prstGeom>
          <a:effectLst>
            <a:glow rad="152400">
              <a:schemeClr val="tx1">
                <a:alpha val="90000"/>
              </a:schemeClr>
            </a:glow>
          </a:effectLst>
        </p:spPr>
      </p:pic>
      <p:pic>
        <p:nvPicPr>
          <p:cNvPr id="19" name="Picture 18">
            <a:extLst>
              <a:ext uri="{FF2B5EF4-FFF2-40B4-BE49-F238E27FC236}">
                <a16:creationId xmlns:a16="http://schemas.microsoft.com/office/drawing/2014/main" id="{A7BE91CE-CBA1-F8BD-16C6-F31C1408F1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67863" y="4056021"/>
            <a:ext cx="1280160" cy="2702853"/>
          </a:xfrm>
          <a:prstGeom prst="rect">
            <a:avLst/>
          </a:prstGeom>
          <a:effectLst>
            <a:glow rad="152400">
              <a:schemeClr val="tx1">
                <a:alpha val="90000"/>
              </a:schemeClr>
            </a:glow>
          </a:effectLst>
        </p:spPr>
      </p:pic>
      <p:pic>
        <p:nvPicPr>
          <p:cNvPr id="21" name="Picture 20">
            <a:extLst>
              <a:ext uri="{FF2B5EF4-FFF2-40B4-BE49-F238E27FC236}">
                <a16:creationId xmlns:a16="http://schemas.microsoft.com/office/drawing/2014/main" id="{483467C8-6382-A2AA-6C56-F3EF8DF4E4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96772" y="4056020"/>
            <a:ext cx="1281946" cy="2702853"/>
          </a:xfrm>
          <a:prstGeom prst="rect">
            <a:avLst/>
          </a:prstGeom>
          <a:effectLst>
            <a:glow rad="152400">
              <a:schemeClr val="tx1"/>
            </a:glow>
          </a:effectLst>
        </p:spPr>
      </p:pic>
      <p:sp>
        <p:nvSpPr>
          <p:cNvPr id="23" name="Arrow: Right 22">
            <a:extLst>
              <a:ext uri="{FF2B5EF4-FFF2-40B4-BE49-F238E27FC236}">
                <a16:creationId xmlns:a16="http://schemas.microsoft.com/office/drawing/2014/main" id="{359CE3E8-660D-AAB6-2914-B56E99C2F2B8}"/>
              </a:ext>
            </a:extLst>
          </p:cNvPr>
          <p:cNvSpPr/>
          <p:nvPr/>
        </p:nvSpPr>
        <p:spPr>
          <a:xfrm rot="6221414">
            <a:off x="202278" y="2793166"/>
            <a:ext cx="1413050" cy="642601"/>
          </a:xfrm>
          <a:prstGeom prst="rightArrow">
            <a:avLst/>
          </a:prstGeom>
          <a:solidFill>
            <a:srgbClr val="E4831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2000" b="1" dirty="0">
                <a:effectLst>
                  <a:outerShdw blurRad="38100" dist="38100" dir="2700000" algn="tl">
                    <a:srgbClr val="000000">
                      <a:alpha val="43137"/>
                    </a:srgbClr>
                  </a:outerShdw>
                </a:effectLst>
                <a:latin typeface="ADLaM Display" panose="02010000000000000000" pitchFamily="2" charset="0"/>
                <a:ea typeface="ADLaM Display" panose="02010000000000000000" pitchFamily="2" charset="0"/>
                <a:cs typeface="ADLaM Display" panose="02010000000000000000" pitchFamily="2" charset="0"/>
              </a:rPr>
              <a:t>1</a:t>
            </a:r>
          </a:p>
        </p:txBody>
      </p:sp>
      <p:sp>
        <p:nvSpPr>
          <p:cNvPr id="24" name="Arrow: Right 23">
            <a:extLst>
              <a:ext uri="{FF2B5EF4-FFF2-40B4-BE49-F238E27FC236}">
                <a16:creationId xmlns:a16="http://schemas.microsoft.com/office/drawing/2014/main" id="{9F864F67-6BB2-74E2-AF0F-EE587CFD46C8}"/>
              </a:ext>
            </a:extLst>
          </p:cNvPr>
          <p:cNvSpPr/>
          <p:nvPr/>
        </p:nvSpPr>
        <p:spPr>
          <a:xfrm rot="5218118">
            <a:off x="1601418" y="2816750"/>
            <a:ext cx="1413050" cy="642601"/>
          </a:xfrm>
          <a:prstGeom prst="rightArrow">
            <a:avLst/>
          </a:prstGeom>
          <a:solidFill>
            <a:srgbClr val="E4831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2000" b="1" dirty="0">
                <a:effectLst>
                  <a:outerShdw blurRad="38100" dist="38100" dir="2700000" algn="tl">
                    <a:srgbClr val="000000">
                      <a:alpha val="43137"/>
                    </a:srgbClr>
                  </a:outerShdw>
                </a:effectLst>
                <a:latin typeface="ADLaM Display" panose="02010000000000000000" pitchFamily="2" charset="0"/>
                <a:ea typeface="ADLaM Display" panose="02010000000000000000" pitchFamily="2" charset="0"/>
                <a:cs typeface="ADLaM Display" panose="02010000000000000000" pitchFamily="2" charset="0"/>
              </a:rPr>
              <a:t>2</a:t>
            </a:r>
          </a:p>
        </p:txBody>
      </p:sp>
      <p:sp>
        <p:nvSpPr>
          <p:cNvPr id="25" name="Arrow: Right 24">
            <a:extLst>
              <a:ext uri="{FF2B5EF4-FFF2-40B4-BE49-F238E27FC236}">
                <a16:creationId xmlns:a16="http://schemas.microsoft.com/office/drawing/2014/main" id="{EEE13FA3-8813-4642-4209-2133CE6A8D45}"/>
              </a:ext>
            </a:extLst>
          </p:cNvPr>
          <p:cNvSpPr/>
          <p:nvPr/>
        </p:nvSpPr>
        <p:spPr>
          <a:xfrm rot="4217570">
            <a:off x="2966917" y="2782172"/>
            <a:ext cx="1413050" cy="642601"/>
          </a:xfrm>
          <a:prstGeom prst="rightArrow">
            <a:avLst/>
          </a:prstGeom>
          <a:solidFill>
            <a:srgbClr val="E4831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2000" b="1" dirty="0">
                <a:effectLst>
                  <a:outerShdw blurRad="38100" dist="38100" dir="2700000" algn="tl">
                    <a:srgbClr val="000000">
                      <a:alpha val="43137"/>
                    </a:srgbClr>
                  </a:outerShdw>
                </a:effectLst>
                <a:latin typeface="ADLaM Display" panose="02010000000000000000" pitchFamily="2" charset="0"/>
                <a:ea typeface="ADLaM Display" panose="02010000000000000000" pitchFamily="2" charset="0"/>
                <a:cs typeface="ADLaM Display" panose="02010000000000000000" pitchFamily="2" charset="0"/>
              </a:rPr>
              <a:t>3</a:t>
            </a:r>
          </a:p>
        </p:txBody>
      </p:sp>
    </p:spTree>
    <p:extLst>
      <p:ext uri="{BB962C8B-B14F-4D97-AF65-F5344CB8AC3E}">
        <p14:creationId xmlns:p14="http://schemas.microsoft.com/office/powerpoint/2010/main" val="19219546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F53ED3-E68B-9DA2-622A-4496F1C4AB57}"/>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E502E7F-FD80-8CFA-D29A-5DA7081953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2E5F7AB-C947-5269-2F8B-E148082074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DB2A86CB-EF72-FF3B-F86E-E1F535C0A2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473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Title 1">
            <a:extLst>
              <a:ext uri="{FF2B5EF4-FFF2-40B4-BE49-F238E27FC236}">
                <a16:creationId xmlns:a16="http://schemas.microsoft.com/office/drawing/2014/main" id="{C46E2D11-5597-5F94-D54F-AB1C1F4A6740}"/>
              </a:ext>
            </a:extLst>
          </p:cNvPr>
          <p:cNvSpPr txBox="1">
            <a:spLocks/>
          </p:cNvSpPr>
          <p:nvPr/>
        </p:nvSpPr>
        <p:spPr>
          <a:xfrm>
            <a:off x="4616738" y="172528"/>
            <a:ext cx="7604218" cy="6470021"/>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marL="342900" indent="-342900">
              <a:lnSpc>
                <a:spcPct val="100000"/>
              </a:lnSpc>
              <a:buClr>
                <a:srgbClr val="FF0000"/>
              </a:buClr>
              <a:buAutoNum type="arabicPeriod"/>
            </a:pPr>
            <a:r>
              <a:rPr lang="en-US" sz="20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  The Building Blocks</a:t>
            </a:r>
            <a:r>
              <a:rPr lang="en-US" sz="2000" dirty="0">
                <a:latin typeface="ADLaM Display" panose="02010000000000000000" pitchFamily="2" charset="0"/>
                <a:ea typeface="ADLaM Display" panose="02010000000000000000" pitchFamily="2" charset="0"/>
                <a:cs typeface="ADLaM Display" panose="02010000000000000000" pitchFamily="2" charset="0"/>
              </a:rPr>
              <a:t>: In this version, you have access to 9 unique building meshes. These shapes are your raw materials. By using the Scale, Move, and Rotate tools, you can get incredibly creative, even stacking blocks on top of one another. Whether you want to design a simple fortress or a towering castle, these blocks make it possible.</a:t>
            </a:r>
          </a:p>
          <a:p>
            <a:pPr marL="342900" indent="-342900">
              <a:lnSpc>
                <a:spcPct val="100000"/>
              </a:lnSpc>
              <a:buClr>
                <a:srgbClr val="FF0000"/>
              </a:buClr>
              <a:buFontTx/>
              <a:buAutoNum type="arabicPeriod"/>
            </a:pPr>
            <a:r>
              <a:rPr lang="en-US" sz="2000" dirty="0">
                <a:latin typeface="ADLaM Display" panose="02010000000000000000" pitchFamily="2" charset="0"/>
                <a:ea typeface="ADLaM Display" panose="02010000000000000000" pitchFamily="2" charset="0"/>
                <a:cs typeface="ADLaM Display" panose="02010000000000000000" pitchFamily="2" charset="0"/>
              </a:rPr>
              <a:t>  </a:t>
            </a:r>
            <a:r>
              <a:rPr lang="en-US" sz="20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Shadows</a:t>
            </a:r>
            <a:r>
              <a:rPr lang="en-US" sz="2000" dirty="0">
                <a:latin typeface="ADLaM Display" panose="02010000000000000000" pitchFamily="2" charset="0"/>
                <a:ea typeface="ADLaM Display" panose="02010000000000000000" pitchFamily="2" charset="0"/>
                <a:cs typeface="ADLaM Display" panose="02010000000000000000" pitchFamily="2" charset="0"/>
              </a:rPr>
              <a:t>: As you look at the scene, notice that each object projects its own distinct shadow onto the floor. While this may seem like a small detail, it is impactful for the immersion, "grounding" the digital objects so they feel like they truly exist in your physical environment.</a:t>
            </a:r>
          </a:p>
          <a:p>
            <a:pPr marL="342900" indent="-342900">
              <a:lnSpc>
                <a:spcPct val="100000"/>
              </a:lnSpc>
              <a:buClr>
                <a:srgbClr val="FF0000"/>
              </a:buClr>
              <a:buAutoNum type="arabicPeriod"/>
            </a:pPr>
            <a:r>
              <a:rPr lang="en-US" sz="20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  The Scoring Meshes</a:t>
            </a:r>
            <a:r>
              <a:rPr lang="en-US" sz="2000" dirty="0">
                <a:latin typeface="ADLaM Display" panose="02010000000000000000" pitchFamily="2" charset="0"/>
                <a:ea typeface="ADLaM Display" panose="02010000000000000000" pitchFamily="2" charset="0"/>
                <a:cs typeface="ADLaM Display" panose="02010000000000000000" pitchFamily="2" charset="0"/>
              </a:rPr>
              <a:t>: Alongside the standard blocks, there are 3 special Scoring Meshes. Unlike the structural blocks, these specific items are the key to earning points during gameplay. (We will cover the specific rules of the Scoring System later).</a:t>
            </a:r>
          </a:p>
          <a:p>
            <a:pPr marL="342900" indent="-342900">
              <a:lnSpc>
                <a:spcPct val="100000"/>
              </a:lnSpc>
              <a:buClr>
                <a:srgbClr val="FF0000"/>
              </a:buClr>
              <a:buAutoNum type="arabicPeriod"/>
            </a:pPr>
            <a:r>
              <a:rPr lang="en-US" sz="2000" dirty="0">
                <a:latin typeface="ADLaM Display" panose="02010000000000000000" pitchFamily="2" charset="0"/>
                <a:ea typeface="ADLaM Display" panose="02010000000000000000" pitchFamily="2" charset="0"/>
                <a:cs typeface="ADLaM Display" panose="02010000000000000000" pitchFamily="2" charset="0"/>
              </a:rPr>
              <a:t>  </a:t>
            </a:r>
            <a:r>
              <a:rPr lang="en-US" sz="20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Quick Identification</a:t>
            </a:r>
            <a:r>
              <a:rPr lang="en-US" sz="2000" dirty="0">
                <a:latin typeface="ADLaM Display" panose="02010000000000000000" pitchFamily="2" charset="0"/>
                <a:ea typeface="ADLaM Display" panose="02010000000000000000" pitchFamily="2" charset="0"/>
                <a:cs typeface="ADLaM Display" panose="02010000000000000000" pitchFamily="2" charset="0"/>
              </a:rPr>
              <a:t>: To help you tell them apart at a glance, look at the Building Bar at the bottom of the screen. Standard Objects (Building Blocks) are shown with a grey background. Scoring Objects are highlighted with a green background, so you can easily spot your high-value items.</a:t>
            </a:r>
          </a:p>
        </p:txBody>
      </p:sp>
      <p:pic>
        <p:nvPicPr>
          <p:cNvPr id="10" name="Picture 9">
            <a:extLst>
              <a:ext uri="{FF2B5EF4-FFF2-40B4-BE49-F238E27FC236}">
                <a16:creationId xmlns:a16="http://schemas.microsoft.com/office/drawing/2014/main" id="{FBDC910D-C684-8CB2-D7B2-008C91D010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72" y="0"/>
            <a:ext cx="2156624" cy="4553367"/>
          </a:xfrm>
          <a:prstGeom prst="rect">
            <a:avLst/>
          </a:prstGeom>
          <a:effectLst>
            <a:glow rad="152400">
              <a:schemeClr val="tx1">
                <a:alpha val="90000"/>
              </a:schemeClr>
            </a:glow>
          </a:effectLst>
        </p:spPr>
      </p:pic>
      <p:pic>
        <p:nvPicPr>
          <p:cNvPr id="12" name="Picture 11">
            <a:extLst>
              <a:ext uri="{FF2B5EF4-FFF2-40B4-BE49-F238E27FC236}">
                <a16:creationId xmlns:a16="http://schemas.microsoft.com/office/drawing/2014/main" id="{65A21C3D-69BF-7060-29FA-A6B22D937F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2703" y="2304632"/>
            <a:ext cx="2156624" cy="4553368"/>
          </a:xfrm>
          <a:prstGeom prst="rect">
            <a:avLst/>
          </a:prstGeom>
          <a:effectLst>
            <a:glow rad="152400">
              <a:schemeClr val="tx1">
                <a:alpha val="90000"/>
              </a:schemeClr>
            </a:glow>
          </a:effectLst>
        </p:spPr>
      </p:pic>
      <p:sp>
        <p:nvSpPr>
          <p:cNvPr id="5" name="TextBox 4">
            <a:extLst>
              <a:ext uri="{FF2B5EF4-FFF2-40B4-BE49-F238E27FC236}">
                <a16:creationId xmlns:a16="http://schemas.microsoft.com/office/drawing/2014/main" id="{D819DBC3-80CC-20D9-AED0-9A0AB23FD557}"/>
              </a:ext>
            </a:extLst>
          </p:cNvPr>
          <p:cNvSpPr txBox="1"/>
          <p:nvPr/>
        </p:nvSpPr>
        <p:spPr>
          <a:xfrm>
            <a:off x="218687" y="3291783"/>
            <a:ext cx="572654" cy="523220"/>
          </a:xfrm>
          <a:prstGeom prst="rect">
            <a:avLst/>
          </a:prstGeom>
          <a:noFill/>
        </p:spPr>
        <p:txBody>
          <a:bodyPr wrap="square" rtlCol="0">
            <a:spAutoFit/>
          </a:bodyPr>
          <a:lstStyle/>
          <a:p>
            <a:r>
              <a:rPr lang="en-US" sz="28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1</a:t>
            </a:r>
            <a:endParaRPr lang="en-US" sz="28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TextBox 5">
            <a:extLst>
              <a:ext uri="{FF2B5EF4-FFF2-40B4-BE49-F238E27FC236}">
                <a16:creationId xmlns:a16="http://schemas.microsoft.com/office/drawing/2014/main" id="{20EB3D3F-A886-F327-64F6-A540905E2895}"/>
              </a:ext>
            </a:extLst>
          </p:cNvPr>
          <p:cNvSpPr txBox="1"/>
          <p:nvPr/>
        </p:nvSpPr>
        <p:spPr>
          <a:xfrm>
            <a:off x="444629" y="1245782"/>
            <a:ext cx="572654" cy="400110"/>
          </a:xfrm>
          <a:prstGeom prst="rect">
            <a:avLst/>
          </a:prstGeom>
          <a:noFill/>
        </p:spPr>
        <p:txBody>
          <a:bodyPr wrap="square" rtlCol="0">
            <a:spAutoFit/>
          </a:bodyPr>
          <a:lstStyle/>
          <a:p>
            <a:r>
              <a:rPr lang="en-US" sz="20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2</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7" name="TextBox 6">
            <a:extLst>
              <a:ext uri="{FF2B5EF4-FFF2-40B4-BE49-F238E27FC236}">
                <a16:creationId xmlns:a16="http://schemas.microsoft.com/office/drawing/2014/main" id="{F0D5BED2-E557-1B44-3C4F-7A9E8E9AB636}"/>
              </a:ext>
            </a:extLst>
          </p:cNvPr>
          <p:cNvSpPr txBox="1"/>
          <p:nvPr/>
        </p:nvSpPr>
        <p:spPr>
          <a:xfrm>
            <a:off x="3204337" y="4553367"/>
            <a:ext cx="572654" cy="461665"/>
          </a:xfrm>
          <a:prstGeom prst="rect">
            <a:avLst/>
          </a:prstGeom>
          <a:noFill/>
        </p:spPr>
        <p:txBody>
          <a:bodyPr wrap="square" rtlCol="0">
            <a:spAutoFit/>
          </a:bodyPr>
          <a:lstStyle/>
          <a:p>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3</a:t>
            </a: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3" name="TextBox 12">
            <a:extLst>
              <a:ext uri="{FF2B5EF4-FFF2-40B4-BE49-F238E27FC236}">
                <a16:creationId xmlns:a16="http://schemas.microsoft.com/office/drawing/2014/main" id="{1A4EAA48-3677-6922-6A32-EFE0E4993B8B}"/>
              </a:ext>
            </a:extLst>
          </p:cNvPr>
          <p:cNvSpPr txBox="1"/>
          <p:nvPr/>
        </p:nvSpPr>
        <p:spPr>
          <a:xfrm>
            <a:off x="2995292" y="6180884"/>
            <a:ext cx="572654" cy="461665"/>
          </a:xfrm>
          <a:prstGeom prst="rect">
            <a:avLst/>
          </a:prstGeom>
          <a:noFill/>
        </p:spPr>
        <p:txBody>
          <a:bodyPr wrap="square" rtlCol="0">
            <a:spAutoFit/>
          </a:bodyPr>
          <a:lstStyle/>
          <a:p>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4</a:t>
            </a:r>
          </a:p>
        </p:txBody>
      </p:sp>
    </p:spTree>
    <p:extLst>
      <p:ext uri="{BB962C8B-B14F-4D97-AF65-F5344CB8AC3E}">
        <p14:creationId xmlns:p14="http://schemas.microsoft.com/office/powerpoint/2010/main" val="34537280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2B6E9A-775E-4653-A381-ABFA9C7E6DD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1E4E0D2-E47A-346E-626C-16F0163B88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DE7B5A3-5477-3D5B-1809-A181BEF396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2ACFD5A9-CB7E-03F4-3AFA-AEB2D2481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473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Title 1">
            <a:extLst>
              <a:ext uri="{FF2B5EF4-FFF2-40B4-BE49-F238E27FC236}">
                <a16:creationId xmlns:a16="http://schemas.microsoft.com/office/drawing/2014/main" id="{A1D1AE9B-24AC-52C3-A0C3-2AF5D996FE05}"/>
              </a:ext>
            </a:extLst>
          </p:cNvPr>
          <p:cNvSpPr txBox="1">
            <a:spLocks/>
          </p:cNvSpPr>
          <p:nvPr/>
        </p:nvSpPr>
        <p:spPr>
          <a:xfrm>
            <a:off x="4644170" y="201926"/>
            <a:ext cx="7543258" cy="6192981"/>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nSpc>
                <a:spcPct val="100000"/>
              </a:lnSpc>
            </a:pPr>
            <a:r>
              <a:rPr lang="en-US" sz="1600" dirty="0">
                <a:latin typeface="ADLaM Display" panose="02010000000000000000" pitchFamily="2" charset="0"/>
                <a:ea typeface="ADLaM Display" panose="02010000000000000000" pitchFamily="2" charset="0"/>
                <a:cs typeface="ADLaM Display" panose="02010000000000000000" pitchFamily="2" charset="0"/>
              </a:rPr>
              <a:t>  </a:t>
            </a:r>
            <a:r>
              <a:rPr lang="en-US" sz="1800" dirty="0">
                <a:latin typeface="ADLaM Display" panose="02010000000000000000" pitchFamily="2" charset="0"/>
                <a:ea typeface="ADLaM Display" panose="02010000000000000000" pitchFamily="2" charset="0"/>
                <a:cs typeface="ADLaM Display" panose="02010000000000000000" pitchFamily="2" charset="0"/>
              </a:rPr>
              <a:t>Once you press </a:t>
            </a:r>
            <a:r>
              <a:rPr lang="en-US" sz="18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Start</a:t>
            </a:r>
            <a:r>
              <a:rPr lang="en-US" sz="1800" dirty="0">
                <a:latin typeface="ADLaM Display" panose="02010000000000000000" pitchFamily="2" charset="0"/>
                <a:ea typeface="ADLaM Display" panose="02010000000000000000" pitchFamily="2" charset="0"/>
                <a:cs typeface="ADLaM Display" panose="02010000000000000000" pitchFamily="2" charset="0"/>
              </a:rPr>
              <a:t>, you enter the </a:t>
            </a:r>
            <a:r>
              <a:rPr lang="en-US" sz="18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Gameplay Phase</a:t>
            </a:r>
            <a:r>
              <a:rPr lang="en-US" sz="1800" dirty="0">
                <a:latin typeface="ADLaM Display" panose="02010000000000000000" pitchFamily="2" charset="0"/>
                <a:ea typeface="ADLaM Display" panose="02010000000000000000" pitchFamily="2" charset="0"/>
                <a:cs typeface="ADLaM Display" panose="02010000000000000000" pitchFamily="2" charset="0"/>
              </a:rPr>
              <a:t>. </a:t>
            </a:r>
          </a:p>
          <a:p>
            <a:pPr marL="342900" indent="-342900">
              <a:lnSpc>
                <a:spcPct val="100000"/>
              </a:lnSpc>
              <a:buClr>
                <a:srgbClr val="FF0000"/>
              </a:buClr>
              <a:buAutoNum type="arabicPeriod"/>
            </a:pPr>
            <a:r>
              <a:rPr lang="en-US" sz="1800" dirty="0">
                <a:latin typeface="ADLaM Display" panose="02010000000000000000" pitchFamily="2" charset="0"/>
                <a:ea typeface="ADLaM Display" panose="02010000000000000000" pitchFamily="2" charset="0"/>
                <a:cs typeface="ADLaM Display" panose="02010000000000000000" pitchFamily="2" charset="0"/>
              </a:rPr>
              <a:t>  </a:t>
            </a:r>
            <a:r>
              <a:rPr lang="en-US" sz="18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The Launcher</a:t>
            </a:r>
            <a:r>
              <a:rPr lang="en-US" sz="1800" dirty="0">
                <a:latin typeface="ADLaM Display" panose="02010000000000000000" pitchFamily="2" charset="0"/>
                <a:ea typeface="ADLaM Display" panose="02010000000000000000" pitchFamily="2" charset="0"/>
                <a:cs typeface="ADLaM Display" panose="02010000000000000000" pitchFamily="2" charset="0"/>
              </a:rPr>
              <a:t>: Press the Shoot Button to launch a projectile. The ball spawns from the center of your screen and travels in the exact direction your camera is facing. To aim, simply move your phone to align the center of your view with your target.</a:t>
            </a:r>
          </a:p>
          <a:p>
            <a:pPr marL="342900" indent="-342900">
              <a:lnSpc>
                <a:spcPct val="100000"/>
              </a:lnSpc>
              <a:buClr>
                <a:srgbClr val="FF0000"/>
              </a:buClr>
              <a:buAutoNum type="arabicPeriod"/>
            </a:pPr>
            <a:r>
              <a:rPr lang="en-US" sz="1800" dirty="0">
                <a:latin typeface="ADLaM Display" panose="02010000000000000000" pitchFamily="2" charset="0"/>
                <a:ea typeface="ADLaM Display" panose="02010000000000000000" pitchFamily="2" charset="0"/>
                <a:cs typeface="ADLaM Display" panose="02010000000000000000" pitchFamily="2" charset="0"/>
              </a:rPr>
              <a:t>  </a:t>
            </a:r>
            <a:r>
              <a:rPr lang="en-US" sz="18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The Timer</a:t>
            </a:r>
            <a:r>
              <a:rPr lang="en-US" sz="1800" dirty="0">
                <a:latin typeface="ADLaM Display" panose="02010000000000000000" pitchFamily="2" charset="0"/>
                <a:ea typeface="ADLaM Display" panose="02010000000000000000" pitchFamily="2" charset="0"/>
                <a:cs typeface="ADLaM Display" panose="02010000000000000000" pitchFamily="2" charset="0"/>
              </a:rPr>
              <a:t>: This countdown displays the time remaining to complete the level. </a:t>
            </a:r>
            <a:br>
              <a:rPr lang="en-US" sz="1800" dirty="0">
                <a:latin typeface="ADLaM Display" panose="02010000000000000000" pitchFamily="2" charset="0"/>
                <a:ea typeface="ADLaM Display" panose="02010000000000000000" pitchFamily="2" charset="0"/>
                <a:cs typeface="ADLaM Display" panose="02010000000000000000" pitchFamily="2" charset="0"/>
              </a:rPr>
            </a:br>
            <a:r>
              <a:rPr lang="en-US" sz="1800" dirty="0">
                <a:latin typeface="ADLaM Display" panose="02010000000000000000" pitchFamily="2" charset="0"/>
                <a:ea typeface="ADLaM Display" panose="02010000000000000000" pitchFamily="2" charset="0"/>
                <a:cs typeface="ADLaM Display" panose="02010000000000000000" pitchFamily="2" charset="0"/>
              </a:rPr>
              <a:t>-</a:t>
            </a:r>
            <a:r>
              <a:rPr lang="en-US" sz="18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Secret Mechanic</a:t>
            </a:r>
            <a:r>
              <a:rPr lang="en-US" sz="1800" dirty="0">
                <a:latin typeface="ADLaM Display" panose="02010000000000000000" pitchFamily="2" charset="0"/>
                <a:ea typeface="ADLaM Display" panose="02010000000000000000" pitchFamily="2" charset="0"/>
                <a:cs typeface="ADLaM Display" panose="02010000000000000000" pitchFamily="2" charset="0"/>
              </a:rPr>
              <a:t>: You can tap the Timer Icon itself to buy +5 seconds. However, this comes at a strategic cost: you will be penalized -15 points from your score.</a:t>
            </a:r>
          </a:p>
          <a:p>
            <a:pPr marL="342900" indent="-342900">
              <a:lnSpc>
                <a:spcPct val="100000"/>
              </a:lnSpc>
              <a:buClr>
                <a:srgbClr val="FF0000"/>
              </a:buClr>
              <a:buAutoNum type="arabicPeriod"/>
            </a:pPr>
            <a:r>
              <a:rPr lang="en-US" sz="1800" dirty="0">
                <a:latin typeface="ADLaM Display" panose="02010000000000000000" pitchFamily="2" charset="0"/>
                <a:ea typeface="ADLaM Display" panose="02010000000000000000" pitchFamily="2" charset="0"/>
                <a:cs typeface="ADLaM Display" panose="02010000000000000000" pitchFamily="2" charset="0"/>
              </a:rPr>
              <a:t>  </a:t>
            </a:r>
            <a:r>
              <a:rPr lang="en-US" sz="18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Power Control</a:t>
            </a:r>
            <a:r>
              <a:rPr lang="en-US" sz="1800" dirty="0">
                <a:latin typeface="ADLaM Display" panose="02010000000000000000" pitchFamily="2" charset="0"/>
                <a:ea typeface="ADLaM Display" panose="02010000000000000000" pitchFamily="2" charset="0"/>
                <a:cs typeface="ADLaM Display" panose="02010000000000000000" pitchFamily="2" charset="0"/>
              </a:rPr>
              <a:t>: This slider gives you control over the ball's velocity. The default force is set to 500, but you can adjust it anywhere from 1 to 1000.</a:t>
            </a:r>
          </a:p>
          <a:p>
            <a:pPr marL="342900" indent="-342900">
              <a:lnSpc>
                <a:spcPct val="100000"/>
              </a:lnSpc>
              <a:buClr>
                <a:srgbClr val="FF0000"/>
              </a:buClr>
              <a:buAutoNum type="arabicPeriod"/>
            </a:pPr>
            <a:r>
              <a:rPr lang="en-US" sz="1800" dirty="0">
                <a:latin typeface="ADLaM Display" panose="02010000000000000000" pitchFamily="2" charset="0"/>
                <a:ea typeface="ADLaM Display" panose="02010000000000000000" pitchFamily="2" charset="0"/>
                <a:cs typeface="ADLaM Display" panose="02010000000000000000" pitchFamily="2" charset="0"/>
              </a:rPr>
              <a:t>  </a:t>
            </a:r>
            <a:r>
              <a:rPr lang="en-US" sz="18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The Scoring System</a:t>
            </a:r>
            <a:r>
              <a:rPr lang="en-US" sz="1800" dirty="0">
                <a:latin typeface="ADLaM Display" panose="02010000000000000000" pitchFamily="2" charset="0"/>
                <a:ea typeface="ADLaM Display" panose="02010000000000000000" pitchFamily="2" charset="0"/>
                <a:cs typeface="ADLaM Display" panose="02010000000000000000" pitchFamily="2" charset="0"/>
              </a:rPr>
              <a:t>: Your total score is displayed here. Points are earned by interacting with the Scoring Meshes you placed earlier. </a:t>
            </a:r>
            <a:br>
              <a:rPr lang="en-US" sz="1800" dirty="0">
                <a:latin typeface="ADLaM Display" panose="02010000000000000000" pitchFamily="2" charset="0"/>
                <a:ea typeface="ADLaM Display" panose="02010000000000000000" pitchFamily="2" charset="0"/>
                <a:cs typeface="ADLaM Display" panose="02010000000000000000" pitchFamily="2" charset="0"/>
              </a:rPr>
            </a:br>
            <a:r>
              <a:rPr lang="en-US" sz="1800" dirty="0">
                <a:latin typeface="ADLaM Display" panose="02010000000000000000" pitchFamily="2" charset="0"/>
                <a:ea typeface="ADLaM Display" panose="02010000000000000000" pitchFamily="2" charset="0"/>
                <a:cs typeface="ADLaM Display" panose="02010000000000000000" pitchFamily="2" charset="0"/>
              </a:rPr>
              <a:t>-</a:t>
            </a:r>
            <a:r>
              <a:rPr lang="en-US" sz="18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Hit Points</a:t>
            </a:r>
            <a:r>
              <a:rPr lang="en-US" sz="1800" dirty="0">
                <a:latin typeface="ADLaM Display" panose="02010000000000000000" pitchFamily="2" charset="0"/>
                <a:ea typeface="ADLaM Display" panose="02010000000000000000" pitchFamily="2" charset="0"/>
                <a:cs typeface="ADLaM Display" panose="02010000000000000000" pitchFamily="2" charset="0"/>
              </a:rPr>
              <a:t>: Striking an object grants immediate points based on its value: Crystal (+35), Gold Ingot (+25), and Ceramic Jar (+15).</a:t>
            </a:r>
            <a:br>
              <a:rPr lang="en-US" sz="1800" dirty="0">
                <a:latin typeface="ADLaM Display" panose="02010000000000000000" pitchFamily="2" charset="0"/>
                <a:ea typeface="ADLaM Display" panose="02010000000000000000" pitchFamily="2" charset="0"/>
                <a:cs typeface="ADLaM Display" panose="02010000000000000000" pitchFamily="2" charset="0"/>
              </a:rPr>
            </a:br>
            <a:r>
              <a:rPr lang="en-US" sz="1800" dirty="0">
                <a:latin typeface="ADLaM Display" panose="02010000000000000000" pitchFamily="2" charset="0"/>
                <a:ea typeface="ADLaM Display" panose="02010000000000000000" pitchFamily="2" charset="0"/>
                <a:cs typeface="ADLaM Display" panose="02010000000000000000" pitchFamily="2" charset="0"/>
              </a:rPr>
              <a:t>-</a:t>
            </a:r>
            <a:r>
              <a:rPr lang="en-US" sz="18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Ground Fall Bonus</a:t>
            </a:r>
            <a:r>
              <a:rPr lang="en-US" sz="1800" dirty="0">
                <a:latin typeface="ADLaM Display" panose="02010000000000000000" pitchFamily="2" charset="0"/>
                <a:ea typeface="ADLaM Display" panose="02010000000000000000" pitchFamily="2" charset="0"/>
                <a:cs typeface="ADLaM Display" panose="02010000000000000000" pitchFamily="2" charset="0"/>
              </a:rPr>
              <a:t>: If you knock a scoring object off a structure and it touches the floor, you receive a one-time 3x Multiplier reward based on that object's value.</a:t>
            </a:r>
            <a:br>
              <a:rPr lang="en-US" sz="1800" dirty="0">
                <a:latin typeface="ADLaM Display" panose="02010000000000000000" pitchFamily="2" charset="0"/>
                <a:ea typeface="ADLaM Display" panose="02010000000000000000" pitchFamily="2" charset="0"/>
                <a:cs typeface="ADLaM Display" panose="02010000000000000000" pitchFamily="2" charset="0"/>
              </a:rPr>
            </a:br>
            <a:r>
              <a:rPr lang="en-US" sz="1800" dirty="0">
                <a:latin typeface="ADLaM Display" panose="02010000000000000000" pitchFamily="2" charset="0"/>
                <a:ea typeface="ADLaM Display" panose="02010000000000000000" pitchFamily="2" charset="0"/>
                <a:cs typeface="ADLaM Display" panose="02010000000000000000" pitchFamily="2" charset="0"/>
              </a:rPr>
              <a:t>-</a:t>
            </a:r>
            <a:r>
              <a:rPr lang="en-US" sz="18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Secret Mechanic</a:t>
            </a:r>
            <a:r>
              <a:rPr lang="en-US" sz="1800" dirty="0">
                <a:latin typeface="ADLaM Display" panose="02010000000000000000" pitchFamily="2" charset="0"/>
                <a:ea typeface="ADLaM Display" panose="02010000000000000000" pitchFamily="2" charset="0"/>
                <a:cs typeface="ADLaM Display" panose="02010000000000000000" pitchFamily="2" charset="0"/>
              </a:rPr>
              <a:t>: Tapping the Score Button instantly adds +5 points, but it sacrifices -1 second from your remaining time.</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0" name="Picture 9">
            <a:extLst>
              <a:ext uri="{FF2B5EF4-FFF2-40B4-BE49-F238E27FC236}">
                <a16:creationId xmlns:a16="http://schemas.microsoft.com/office/drawing/2014/main" id="{6A0DE09F-7974-A559-F061-8B1CC23ED5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8213" y="150876"/>
            <a:ext cx="3105254" cy="6556248"/>
          </a:xfrm>
          <a:prstGeom prst="rect">
            <a:avLst/>
          </a:prstGeom>
          <a:effectLst>
            <a:glow rad="152400">
              <a:schemeClr val="tx1">
                <a:alpha val="90000"/>
              </a:schemeClr>
            </a:glow>
          </a:effectLst>
        </p:spPr>
      </p:pic>
      <p:sp>
        <p:nvSpPr>
          <p:cNvPr id="5" name="TextBox 4">
            <a:extLst>
              <a:ext uri="{FF2B5EF4-FFF2-40B4-BE49-F238E27FC236}">
                <a16:creationId xmlns:a16="http://schemas.microsoft.com/office/drawing/2014/main" id="{9BDA59DB-AD48-571D-626A-796DABDD2E7E}"/>
              </a:ext>
            </a:extLst>
          </p:cNvPr>
          <p:cNvSpPr txBox="1"/>
          <p:nvPr/>
        </p:nvSpPr>
        <p:spPr>
          <a:xfrm>
            <a:off x="2798618" y="4771067"/>
            <a:ext cx="572654" cy="523220"/>
          </a:xfrm>
          <a:prstGeom prst="rect">
            <a:avLst/>
          </a:prstGeom>
          <a:noFill/>
        </p:spPr>
        <p:txBody>
          <a:bodyPr wrap="square" rtlCol="0">
            <a:spAutoFit/>
          </a:bodyPr>
          <a:lstStyle/>
          <a:p>
            <a:r>
              <a:rPr lang="en-US" sz="28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1</a:t>
            </a:r>
            <a:endParaRPr lang="en-US" sz="28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TextBox 5">
            <a:extLst>
              <a:ext uri="{FF2B5EF4-FFF2-40B4-BE49-F238E27FC236}">
                <a16:creationId xmlns:a16="http://schemas.microsoft.com/office/drawing/2014/main" id="{324C0E33-3C6E-99E2-1EC6-81FF1723902B}"/>
              </a:ext>
            </a:extLst>
          </p:cNvPr>
          <p:cNvSpPr txBox="1"/>
          <p:nvPr/>
        </p:nvSpPr>
        <p:spPr>
          <a:xfrm>
            <a:off x="3311035" y="895927"/>
            <a:ext cx="572654" cy="461665"/>
          </a:xfrm>
          <a:prstGeom prst="rect">
            <a:avLst/>
          </a:prstGeom>
          <a:noFill/>
        </p:spPr>
        <p:txBody>
          <a:bodyPr wrap="square" rtlCol="0">
            <a:spAutoFit/>
          </a:bodyPr>
          <a:lstStyle/>
          <a:p>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2</a:t>
            </a: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7" name="TextBox 6">
            <a:extLst>
              <a:ext uri="{FF2B5EF4-FFF2-40B4-BE49-F238E27FC236}">
                <a16:creationId xmlns:a16="http://schemas.microsoft.com/office/drawing/2014/main" id="{A55C28F1-FA7A-027B-C429-CAE554BF1EE0}"/>
              </a:ext>
            </a:extLst>
          </p:cNvPr>
          <p:cNvSpPr txBox="1"/>
          <p:nvPr/>
        </p:nvSpPr>
        <p:spPr>
          <a:xfrm>
            <a:off x="2292367" y="747081"/>
            <a:ext cx="572654" cy="461665"/>
          </a:xfrm>
          <a:prstGeom prst="rect">
            <a:avLst/>
          </a:prstGeom>
          <a:noFill/>
        </p:spPr>
        <p:txBody>
          <a:bodyPr wrap="square" rtlCol="0">
            <a:spAutoFit/>
          </a:bodyPr>
          <a:lstStyle/>
          <a:p>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3</a:t>
            </a: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8" name="TextBox 7">
            <a:extLst>
              <a:ext uri="{FF2B5EF4-FFF2-40B4-BE49-F238E27FC236}">
                <a16:creationId xmlns:a16="http://schemas.microsoft.com/office/drawing/2014/main" id="{5322566B-979D-FCA7-6297-606BA074E081}"/>
              </a:ext>
            </a:extLst>
          </p:cNvPr>
          <p:cNvSpPr txBox="1"/>
          <p:nvPr/>
        </p:nvSpPr>
        <p:spPr>
          <a:xfrm>
            <a:off x="882489" y="106545"/>
            <a:ext cx="572654" cy="461665"/>
          </a:xfrm>
          <a:prstGeom prst="rect">
            <a:avLst/>
          </a:prstGeom>
          <a:noFill/>
        </p:spPr>
        <p:txBody>
          <a:bodyPr wrap="square" rtlCol="0">
            <a:spAutoFit/>
          </a:bodyPr>
          <a:lstStyle/>
          <a:p>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4</a:t>
            </a: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9506885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1CDFC2-5F79-0D7E-E8C4-455136C43AEF}"/>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90CFCED-9E4A-7AE6-218D-4C0D26D48F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6685F57-8A79-B6A2-0AF2-91B1382F08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57236687-6144-425E-58B7-B804F155FE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473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Title 1">
            <a:extLst>
              <a:ext uri="{FF2B5EF4-FFF2-40B4-BE49-F238E27FC236}">
                <a16:creationId xmlns:a16="http://schemas.microsoft.com/office/drawing/2014/main" id="{18D4DEFB-79F7-0375-AA31-B533FA532AD1}"/>
              </a:ext>
            </a:extLst>
          </p:cNvPr>
          <p:cNvSpPr txBox="1">
            <a:spLocks/>
          </p:cNvSpPr>
          <p:nvPr/>
        </p:nvSpPr>
        <p:spPr>
          <a:xfrm>
            <a:off x="4616238" y="534436"/>
            <a:ext cx="7543258" cy="6192981"/>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marL="342900" indent="-342900">
              <a:lnSpc>
                <a:spcPct val="100000"/>
              </a:lnSpc>
              <a:buClr>
                <a:srgbClr val="FF0000"/>
              </a:buClr>
              <a:buAutoNum type="arabicPeriod"/>
            </a:pPr>
            <a:r>
              <a:rPr lang="en-US" sz="20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  The Impact</a:t>
            </a:r>
            <a:r>
              <a:rPr lang="en-US" sz="2000" dirty="0">
                <a:latin typeface="ADLaM Display" panose="02010000000000000000" pitchFamily="2" charset="0"/>
                <a:ea typeface="ADLaM Display" panose="02010000000000000000" pitchFamily="2" charset="0"/>
                <a:cs typeface="ADLaM Display" panose="02010000000000000000" pitchFamily="2" charset="0"/>
              </a:rPr>
              <a:t>: This captures the moment right after a shot hits. You fire a Lava Ball, and upon contact, the game triggers a burst of effects: smoke, light, and a camera shake to simulate the force of the hit, accompanied by special audio cues. The Lava Ball lingers for 5 seconds before fading away. Notice that the Jar and Crystal have gained a distinct glow? That is the Red Aura, indicating they have taken damage.</a:t>
            </a:r>
          </a:p>
          <a:p>
            <a:pPr marL="342900" indent="-342900">
              <a:lnSpc>
                <a:spcPct val="100000"/>
              </a:lnSpc>
              <a:buClr>
                <a:srgbClr val="FF0000"/>
              </a:buClr>
              <a:buAutoNum type="arabicPeriod"/>
            </a:pPr>
            <a:r>
              <a:rPr lang="en-US" sz="2000" dirty="0">
                <a:latin typeface="ADLaM Display" panose="02010000000000000000" pitchFamily="2" charset="0"/>
                <a:ea typeface="ADLaM Display" panose="02010000000000000000" pitchFamily="2" charset="0"/>
                <a:cs typeface="ADLaM Display" panose="02010000000000000000" pitchFamily="2" charset="0"/>
              </a:rPr>
              <a:t>  </a:t>
            </a:r>
            <a:r>
              <a:rPr lang="en-US" sz="20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The </a:t>
            </a:r>
            <a:r>
              <a:rPr lang="en-US" sz="2000" dirty="0" err="1">
                <a:solidFill>
                  <a:srgbClr val="00B050"/>
                </a:solidFill>
                <a:latin typeface="ADLaM Display" panose="02010000000000000000" pitchFamily="2" charset="0"/>
                <a:ea typeface="ADLaM Display" panose="02010000000000000000" pitchFamily="2" charset="0"/>
                <a:cs typeface="ADLaM Display" panose="02010000000000000000" pitchFamily="2" charset="0"/>
              </a:rPr>
              <a:t>Despawn</a:t>
            </a:r>
            <a:r>
              <a:rPr lang="en-US" sz="20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 Window</a:t>
            </a:r>
            <a:r>
              <a:rPr lang="en-US" sz="2000" dirty="0">
                <a:latin typeface="ADLaM Display" panose="02010000000000000000" pitchFamily="2" charset="0"/>
                <a:ea typeface="ADLaM Display" panose="02010000000000000000" pitchFamily="2" charset="0"/>
                <a:cs typeface="ADLaM Display" panose="02010000000000000000" pitchFamily="2" charset="0"/>
              </a:rPr>
              <a:t>: You can see the Jar and Crystal are gone. Scoring objects automatically </a:t>
            </a:r>
            <a:r>
              <a:rPr lang="en-US" sz="2000" dirty="0" err="1">
                <a:latin typeface="ADLaM Display" panose="02010000000000000000" pitchFamily="2" charset="0"/>
                <a:ea typeface="ADLaM Display" panose="02010000000000000000" pitchFamily="2" charset="0"/>
                <a:cs typeface="ADLaM Display" panose="02010000000000000000" pitchFamily="2" charset="0"/>
              </a:rPr>
              <a:t>despawn</a:t>
            </a:r>
            <a:r>
              <a:rPr lang="en-US" sz="2000" dirty="0">
                <a:latin typeface="ADLaM Display" panose="02010000000000000000" pitchFamily="2" charset="0"/>
                <a:ea typeface="ADLaM Display" panose="02010000000000000000" pitchFamily="2" charset="0"/>
                <a:cs typeface="ADLaM Display" panose="02010000000000000000" pitchFamily="2" charset="0"/>
              </a:rPr>
              <a:t> 5 seconds after being hit.</a:t>
            </a:r>
            <a:br>
              <a:rPr lang="en-US" sz="2000" dirty="0">
                <a:latin typeface="ADLaM Display" panose="02010000000000000000" pitchFamily="2" charset="0"/>
                <a:ea typeface="ADLaM Display" panose="02010000000000000000" pitchFamily="2" charset="0"/>
                <a:cs typeface="ADLaM Display" panose="02010000000000000000" pitchFamily="2" charset="0"/>
              </a:rPr>
            </a:br>
            <a:r>
              <a:rPr lang="en-US" sz="2000" dirty="0">
                <a:latin typeface="ADLaM Display" panose="02010000000000000000" pitchFamily="2" charset="0"/>
                <a:ea typeface="ADLaM Display" panose="02010000000000000000" pitchFamily="2" charset="0"/>
                <a:cs typeface="ADLaM Display" panose="02010000000000000000" pitchFamily="2" charset="0"/>
              </a:rPr>
              <a:t>-</a:t>
            </a:r>
            <a:r>
              <a:rPr lang="en-US" sz="20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Strategic Tip</a:t>
            </a:r>
            <a:r>
              <a:rPr lang="en-US" sz="2000" dirty="0">
                <a:latin typeface="ADLaM Display" panose="02010000000000000000" pitchFamily="2" charset="0"/>
                <a:ea typeface="ADLaM Display" panose="02010000000000000000" pitchFamily="2" charset="0"/>
                <a:cs typeface="ADLaM Display" panose="02010000000000000000" pitchFamily="2" charset="0"/>
              </a:rPr>
              <a:t>: This 5-second countdown is actually a "Bonus Window." You can hit a glowing object multiple times before it vanishes. Since every hit registers score, rapid-fire attacks on a dying object are a great way to maximize your points.</a:t>
            </a:r>
          </a:p>
          <a:p>
            <a:pPr marL="342900" indent="-342900">
              <a:lnSpc>
                <a:spcPct val="100000"/>
              </a:lnSpc>
              <a:buClr>
                <a:srgbClr val="FF0000"/>
              </a:buClr>
              <a:buAutoNum type="arabicPeriod"/>
            </a:pPr>
            <a:r>
              <a:rPr lang="en-US" sz="2000" dirty="0">
                <a:latin typeface="ADLaM Display" panose="02010000000000000000" pitchFamily="2" charset="0"/>
                <a:ea typeface="ADLaM Display" panose="02010000000000000000" pitchFamily="2" charset="0"/>
                <a:cs typeface="ADLaM Display" panose="02010000000000000000" pitchFamily="2" charset="0"/>
              </a:rPr>
              <a:t>  </a:t>
            </a:r>
            <a:r>
              <a:rPr lang="en-US" sz="20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Visual Cues (The Red Aura)</a:t>
            </a:r>
            <a:r>
              <a:rPr lang="en-US" sz="2000" dirty="0">
                <a:latin typeface="ADLaM Display" panose="02010000000000000000" pitchFamily="2" charset="0"/>
                <a:ea typeface="ADLaM Display" panose="02010000000000000000" pitchFamily="2" charset="0"/>
                <a:cs typeface="ADLaM Display" panose="02010000000000000000" pitchFamily="2" charset="0"/>
              </a:rPr>
              <a:t>: Here, the Gold Ingot is pulsing with that same Red Aura. This visual effect is a critical interface element: it tells you exactly which objects have been successfully hit and are about to disappear. When you see Red, you know the countdown has begun.</a:t>
            </a:r>
            <a:endParaRPr lang="en-US" sz="2800"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3" name="Picture 2">
            <a:extLst>
              <a:ext uri="{FF2B5EF4-FFF2-40B4-BE49-F238E27FC236}">
                <a16:creationId xmlns:a16="http://schemas.microsoft.com/office/drawing/2014/main" id="{A0BB5F08-9EE9-62C8-D1BF-C6B074F388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422" y="2304288"/>
            <a:ext cx="2156788" cy="4553712"/>
          </a:xfrm>
          <a:prstGeom prst="rect">
            <a:avLst/>
          </a:prstGeom>
          <a:effectLst>
            <a:glow rad="152400">
              <a:schemeClr val="tx1">
                <a:alpha val="90000"/>
              </a:schemeClr>
            </a:glow>
          </a:effectLst>
        </p:spPr>
      </p:pic>
      <p:pic>
        <p:nvPicPr>
          <p:cNvPr id="9" name="Picture 8">
            <a:extLst>
              <a:ext uri="{FF2B5EF4-FFF2-40B4-BE49-F238E27FC236}">
                <a16:creationId xmlns:a16="http://schemas.microsoft.com/office/drawing/2014/main" id="{A781E9BD-2696-9FB7-9C92-FD4B64322B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6442" y="0"/>
            <a:ext cx="2156788" cy="4553712"/>
          </a:xfrm>
          <a:prstGeom prst="rect">
            <a:avLst/>
          </a:prstGeom>
          <a:effectLst>
            <a:glow rad="152400">
              <a:schemeClr val="tx1">
                <a:alpha val="90000"/>
              </a:schemeClr>
            </a:glow>
          </a:effectLst>
        </p:spPr>
      </p:pic>
      <p:sp>
        <p:nvSpPr>
          <p:cNvPr id="5" name="TextBox 4">
            <a:extLst>
              <a:ext uri="{FF2B5EF4-FFF2-40B4-BE49-F238E27FC236}">
                <a16:creationId xmlns:a16="http://schemas.microsoft.com/office/drawing/2014/main" id="{68663DDA-9236-8C86-50A6-45AB646BC378}"/>
              </a:ext>
            </a:extLst>
          </p:cNvPr>
          <p:cNvSpPr txBox="1"/>
          <p:nvPr/>
        </p:nvSpPr>
        <p:spPr>
          <a:xfrm>
            <a:off x="1388991" y="4142994"/>
            <a:ext cx="572654" cy="523220"/>
          </a:xfrm>
          <a:prstGeom prst="rect">
            <a:avLst/>
          </a:prstGeom>
          <a:noFill/>
        </p:spPr>
        <p:txBody>
          <a:bodyPr wrap="square" rtlCol="0">
            <a:spAutoFit/>
          </a:bodyPr>
          <a:lstStyle/>
          <a:p>
            <a:r>
              <a:rPr lang="en-US" sz="28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1</a:t>
            </a:r>
            <a:endParaRPr lang="en-US" sz="28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TextBox 5">
            <a:extLst>
              <a:ext uri="{FF2B5EF4-FFF2-40B4-BE49-F238E27FC236}">
                <a16:creationId xmlns:a16="http://schemas.microsoft.com/office/drawing/2014/main" id="{1B5D730D-4EDE-137D-D868-2EA7661DB1A1}"/>
              </a:ext>
            </a:extLst>
          </p:cNvPr>
          <p:cNvSpPr txBox="1"/>
          <p:nvPr/>
        </p:nvSpPr>
        <p:spPr>
          <a:xfrm>
            <a:off x="3604145" y="1043709"/>
            <a:ext cx="572654" cy="461665"/>
          </a:xfrm>
          <a:prstGeom prst="rect">
            <a:avLst/>
          </a:prstGeom>
          <a:noFill/>
        </p:spPr>
        <p:txBody>
          <a:bodyPr wrap="square" rtlCol="0">
            <a:spAutoFit/>
          </a:bodyPr>
          <a:lstStyle/>
          <a:p>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2</a:t>
            </a: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7" name="TextBox 6">
            <a:extLst>
              <a:ext uri="{FF2B5EF4-FFF2-40B4-BE49-F238E27FC236}">
                <a16:creationId xmlns:a16="http://schemas.microsoft.com/office/drawing/2014/main" id="{B1D9C70A-56A0-7838-9910-89F95A4873AD}"/>
              </a:ext>
            </a:extLst>
          </p:cNvPr>
          <p:cNvSpPr txBox="1"/>
          <p:nvPr/>
        </p:nvSpPr>
        <p:spPr>
          <a:xfrm>
            <a:off x="3604145" y="2686717"/>
            <a:ext cx="572654" cy="461665"/>
          </a:xfrm>
          <a:prstGeom prst="rect">
            <a:avLst/>
          </a:prstGeom>
          <a:noFill/>
        </p:spPr>
        <p:txBody>
          <a:bodyPr wrap="square" rtlCol="0">
            <a:spAutoFit/>
          </a:bodyPr>
          <a:lstStyle/>
          <a:p>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3</a:t>
            </a: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32041444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D1F07D-9CCA-D2A4-1439-2CF073F7E138}"/>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21B5299-149B-9482-0B21-D8FB555AF2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59A214F-4D69-A11C-585B-AADBC2B13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96754A61-E5D8-3D0B-7CF9-9F63D7AE60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473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Title 1">
            <a:extLst>
              <a:ext uri="{FF2B5EF4-FFF2-40B4-BE49-F238E27FC236}">
                <a16:creationId xmlns:a16="http://schemas.microsoft.com/office/drawing/2014/main" id="{D3495BDE-5781-440F-00DF-2E33E81A0056}"/>
              </a:ext>
            </a:extLst>
          </p:cNvPr>
          <p:cNvSpPr txBox="1">
            <a:spLocks/>
          </p:cNvSpPr>
          <p:nvPr/>
        </p:nvSpPr>
        <p:spPr>
          <a:xfrm>
            <a:off x="4648742" y="53635"/>
            <a:ext cx="7543258" cy="6476295"/>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marL="342900" indent="-342900">
              <a:lnSpc>
                <a:spcPct val="100000"/>
              </a:lnSpc>
              <a:buClr>
                <a:srgbClr val="FF0000"/>
              </a:buClr>
              <a:buAutoNum type="arabicPeriod"/>
            </a:pPr>
            <a:r>
              <a:rPr lang="en-US" sz="2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t>
            </a:r>
            <a:r>
              <a:rPr lang="en-US" sz="22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The Standard Victory</a:t>
            </a:r>
            <a:r>
              <a:rPr lang="en-US" sz="2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If the timer runs all the way down to 00:00, the game ends automatically. A summary screen will appear showing your Total Score accumulated from the Gameplay Phase.</a:t>
            </a:r>
          </a:p>
          <a:p>
            <a:pPr marL="342900" indent="-342900">
              <a:lnSpc>
                <a:spcPct val="100000"/>
              </a:lnSpc>
              <a:buClr>
                <a:srgbClr val="FF0000"/>
              </a:buClr>
              <a:buAutoNum type="arabicPeriod"/>
            </a:pPr>
            <a:r>
              <a:rPr lang="en-US" sz="2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t>
            </a:r>
            <a:r>
              <a:rPr lang="en-US" sz="22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Restart</a:t>
            </a:r>
            <a:r>
              <a:rPr lang="en-US" sz="2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The Restart Button is available here as well. Just like in the building phase, pressing this allows you to build a completely new level from scratch.</a:t>
            </a:r>
          </a:p>
          <a:p>
            <a:pPr marL="342900" indent="-342900">
              <a:lnSpc>
                <a:spcPct val="100000"/>
              </a:lnSpc>
              <a:buClr>
                <a:srgbClr val="FF0000"/>
              </a:buClr>
              <a:buAutoNum type="arabicPeriod"/>
            </a:pPr>
            <a:r>
              <a:rPr lang="en-US" sz="2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t>
            </a:r>
            <a:r>
              <a:rPr lang="en-US" sz="22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The Speed Bonus (Early Win): </a:t>
            </a:r>
            <a:r>
              <a:rPr lang="en-US" sz="2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You don't have to wait for the clock to run out! If you manage to destroy (</a:t>
            </a:r>
            <a:r>
              <a:rPr lang="en-US" sz="2200" dirty="0" err="1">
                <a:solidFill>
                  <a:schemeClr val="tx1"/>
                </a:solidFill>
                <a:latin typeface="ADLaM Display" panose="02010000000000000000" pitchFamily="2" charset="0"/>
                <a:ea typeface="ADLaM Display" panose="02010000000000000000" pitchFamily="2" charset="0"/>
                <a:cs typeface="ADLaM Display" panose="02010000000000000000" pitchFamily="2" charset="0"/>
              </a:rPr>
              <a:t>despawn</a:t>
            </a:r>
            <a:r>
              <a:rPr lang="en-US" sz="2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all scoring meshes before the timer hits zero, you trigger an Early Win.</a:t>
            </a:r>
            <a:br>
              <a:rPr lang="en-US" sz="2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br>
            <a:r>
              <a:rPr lang="en-US" sz="2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r>
              <a:rPr lang="en-US" sz="22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The Reward</a:t>
            </a:r>
            <a:r>
              <a:rPr lang="en-US" sz="2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The game rewards efficiency. Your remaining time is converted into points with a 5x Multiplier.</a:t>
            </a:r>
            <a:br>
              <a:rPr lang="en-US" sz="2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br>
            <a:r>
              <a:rPr lang="en-US" sz="2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r>
              <a:rPr lang="en-US" sz="22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The Breakdown</a:t>
            </a:r>
            <a:r>
              <a:rPr lang="en-US" sz="2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The end screen updates to show the full math: Base Score (points from hits) + (Time Left × 5) = Final Score. This is how you achieve the highest possible rankings!</a:t>
            </a:r>
          </a:p>
        </p:txBody>
      </p:sp>
      <p:pic>
        <p:nvPicPr>
          <p:cNvPr id="3" name="Picture 2">
            <a:extLst>
              <a:ext uri="{FF2B5EF4-FFF2-40B4-BE49-F238E27FC236}">
                <a16:creationId xmlns:a16="http://schemas.microsoft.com/office/drawing/2014/main" id="{5AEB6FF0-43CE-064B-B91F-BAF93D522F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750" y="1014927"/>
            <a:ext cx="2156788" cy="4553712"/>
          </a:xfrm>
          <a:prstGeom prst="rect">
            <a:avLst/>
          </a:prstGeom>
          <a:effectLst>
            <a:glow rad="152400">
              <a:schemeClr val="tx1">
                <a:alpha val="90000"/>
              </a:schemeClr>
            </a:glow>
          </a:effectLst>
        </p:spPr>
      </p:pic>
      <p:pic>
        <p:nvPicPr>
          <p:cNvPr id="8" name="Picture 7">
            <a:extLst>
              <a:ext uri="{FF2B5EF4-FFF2-40B4-BE49-F238E27FC236}">
                <a16:creationId xmlns:a16="http://schemas.microsoft.com/office/drawing/2014/main" id="{589E1261-FB09-6AA3-3F43-60091BE361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4273" y="1014927"/>
            <a:ext cx="2156788" cy="4553712"/>
          </a:xfrm>
          <a:prstGeom prst="rect">
            <a:avLst/>
          </a:prstGeom>
          <a:effectLst>
            <a:glow rad="152400">
              <a:schemeClr val="tx1">
                <a:alpha val="90000"/>
              </a:schemeClr>
            </a:glow>
          </a:effectLst>
        </p:spPr>
      </p:pic>
      <p:sp>
        <p:nvSpPr>
          <p:cNvPr id="5" name="TextBox 4">
            <a:extLst>
              <a:ext uri="{FF2B5EF4-FFF2-40B4-BE49-F238E27FC236}">
                <a16:creationId xmlns:a16="http://schemas.microsoft.com/office/drawing/2014/main" id="{F8EB3EDE-5671-A5FD-37C9-9A1411581FB7}"/>
              </a:ext>
            </a:extLst>
          </p:cNvPr>
          <p:cNvSpPr txBox="1"/>
          <p:nvPr/>
        </p:nvSpPr>
        <p:spPr>
          <a:xfrm>
            <a:off x="158302" y="2768563"/>
            <a:ext cx="572654" cy="523220"/>
          </a:xfrm>
          <a:prstGeom prst="rect">
            <a:avLst/>
          </a:prstGeom>
          <a:noFill/>
        </p:spPr>
        <p:txBody>
          <a:bodyPr wrap="square" rtlCol="0">
            <a:spAutoFit/>
          </a:bodyPr>
          <a:lstStyle/>
          <a:p>
            <a:r>
              <a:rPr lang="en-US" sz="28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1</a:t>
            </a:r>
            <a:endParaRPr lang="en-US" sz="28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TextBox 5">
            <a:extLst>
              <a:ext uri="{FF2B5EF4-FFF2-40B4-BE49-F238E27FC236}">
                <a16:creationId xmlns:a16="http://schemas.microsoft.com/office/drawing/2014/main" id="{35373EF9-74A7-DA4C-EA07-D8D90FA84BE5}"/>
              </a:ext>
            </a:extLst>
          </p:cNvPr>
          <p:cNvSpPr txBox="1"/>
          <p:nvPr/>
        </p:nvSpPr>
        <p:spPr>
          <a:xfrm>
            <a:off x="1338788" y="3407538"/>
            <a:ext cx="572654" cy="400110"/>
          </a:xfrm>
          <a:prstGeom prst="rect">
            <a:avLst/>
          </a:prstGeom>
          <a:noFill/>
        </p:spPr>
        <p:txBody>
          <a:bodyPr wrap="square" rtlCol="0">
            <a:spAutoFit/>
          </a:bodyPr>
          <a:lstStyle/>
          <a:p>
            <a:r>
              <a:rPr lang="en-US" sz="20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2</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7" name="TextBox 6">
            <a:extLst>
              <a:ext uri="{FF2B5EF4-FFF2-40B4-BE49-F238E27FC236}">
                <a16:creationId xmlns:a16="http://schemas.microsoft.com/office/drawing/2014/main" id="{6EBF886D-4D5F-AD7F-E317-15460E65B236}"/>
              </a:ext>
            </a:extLst>
          </p:cNvPr>
          <p:cNvSpPr txBox="1"/>
          <p:nvPr/>
        </p:nvSpPr>
        <p:spPr>
          <a:xfrm>
            <a:off x="4108329" y="2830118"/>
            <a:ext cx="572654" cy="461665"/>
          </a:xfrm>
          <a:prstGeom prst="rect">
            <a:avLst/>
          </a:prstGeom>
          <a:noFill/>
        </p:spPr>
        <p:txBody>
          <a:bodyPr wrap="square" rtlCol="0">
            <a:spAutoFit/>
          </a:bodyPr>
          <a:lstStyle/>
          <a:p>
            <a:r>
              <a:rPr lang="en-US" sz="2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3</a:t>
            </a: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6899355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66255E-4F42-A54B-755B-603B55A002E7}"/>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6A1A62C-FAFC-BD7E-A906-36A654D571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F5C31DE-A0FB-ADB7-5E88-4D4D0DC2D0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ABD139A5-0C70-7650-621D-382E9EAB8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473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1">
            <a:extLst>
              <a:ext uri="{FF2B5EF4-FFF2-40B4-BE49-F238E27FC236}">
                <a16:creationId xmlns:a16="http://schemas.microsoft.com/office/drawing/2014/main" id="{55B8E89A-1F5D-CEB3-DE65-6DF0BAEA240F}"/>
              </a:ext>
            </a:extLst>
          </p:cNvPr>
          <p:cNvSpPr txBox="1">
            <a:spLocks/>
          </p:cNvSpPr>
          <p:nvPr/>
        </p:nvSpPr>
        <p:spPr>
          <a:xfrm>
            <a:off x="4648742" y="133285"/>
            <a:ext cx="7527257" cy="971103"/>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r>
              <a:rPr lang="en-US" sz="3600" b="1" u="sng" dirty="0">
                <a:effectLst>
                  <a:outerShdw blurRad="38100" dist="38100" dir="2700000" algn="tl">
                    <a:srgbClr val="000000">
                      <a:alpha val="43137"/>
                    </a:srgbClr>
                  </a:outerShdw>
                </a:effectLst>
                <a:latin typeface="ADLaM Display" panose="02010000000000000000" pitchFamily="2" charset="0"/>
                <a:ea typeface="ADLaM Display" panose="02010000000000000000" pitchFamily="2" charset="0"/>
                <a:cs typeface="ADLaM Display" panose="02010000000000000000" pitchFamily="2" charset="0"/>
              </a:rPr>
              <a:t>How to Play: Solo &amp; Local Multiplayer</a:t>
            </a:r>
          </a:p>
        </p:txBody>
      </p:sp>
      <p:sp>
        <p:nvSpPr>
          <p:cNvPr id="28" name="Title 1">
            <a:extLst>
              <a:ext uri="{FF2B5EF4-FFF2-40B4-BE49-F238E27FC236}">
                <a16:creationId xmlns:a16="http://schemas.microsoft.com/office/drawing/2014/main" id="{97956BA9-BCD4-1332-0E26-20E3B6F784BC}"/>
              </a:ext>
            </a:extLst>
          </p:cNvPr>
          <p:cNvSpPr txBox="1">
            <a:spLocks/>
          </p:cNvSpPr>
          <p:nvPr/>
        </p:nvSpPr>
        <p:spPr>
          <a:xfrm>
            <a:off x="4648742" y="895927"/>
            <a:ext cx="7543258" cy="5962073"/>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nSpc>
                <a:spcPct val="100000"/>
              </a:lnSpc>
            </a:pP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3" name="Title 1">
            <a:extLst>
              <a:ext uri="{FF2B5EF4-FFF2-40B4-BE49-F238E27FC236}">
                <a16:creationId xmlns:a16="http://schemas.microsoft.com/office/drawing/2014/main" id="{ACFE57B1-5CAB-E2D4-2DF4-00E8E8E478ED}"/>
              </a:ext>
            </a:extLst>
          </p:cNvPr>
          <p:cNvSpPr txBox="1">
            <a:spLocks/>
          </p:cNvSpPr>
          <p:nvPr/>
        </p:nvSpPr>
        <p:spPr>
          <a:xfrm>
            <a:off x="4616738" y="1384170"/>
            <a:ext cx="7412194" cy="5409175"/>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nSpc>
                <a:spcPct val="100000"/>
              </a:lnSpc>
              <a:buClr>
                <a:srgbClr val="FF0000"/>
              </a:buClr>
            </a:pPr>
            <a:r>
              <a:rPr lang="en-US" sz="18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t>
            </a:r>
            <a:r>
              <a:rPr lang="en-US" sz="19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As the developer, I designed </a:t>
            </a:r>
            <a:r>
              <a:rPr lang="en-US" sz="1900" i="1" dirty="0">
                <a:solidFill>
                  <a:srgbClr val="E48312"/>
                </a:solidFill>
                <a:latin typeface="ADLaM Display" panose="02010000000000000000" pitchFamily="2" charset="0"/>
                <a:ea typeface="ADLaM Display" panose="02010000000000000000" pitchFamily="2" charset="0"/>
                <a:cs typeface="ADLaM Display" panose="02010000000000000000" pitchFamily="2" charset="0"/>
              </a:rPr>
              <a:t>Lavash</a:t>
            </a:r>
            <a:r>
              <a:rPr lang="en-US" sz="19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with two primary playstyles in mind, giving you the flexibility to enjoy the game alone or turn it into a social competition.</a:t>
            </a:r>
          </a:p>
          <a:p>
            <a:pPr marL="342900" indent="-342900">
              <a:lnSpc>
                <a:spcPct val="100000"/>
              </a:lnSpc>
              <a:buClr>
                <a:schemeClr val="tx1"/>
              </a:buClr>
              <a:buAutoNum type="arabicPeriod"/>
            </a:pPr>
            <a:r>
              <a:rPr lang="en-US" sz="19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t>
            </a:r>
            <a:r>
              <a:rPr lang="en-US" sz="19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Solo Mode</a:t>
            </a:r>
            <a:r>
              <a:rPr lang="en-US" sz="19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Dive into the game alone to enjoy the full creative loop. You are in complete control: build your own intricate worlds, then switch roles to destroy them. Your goal is to optimize your destruction strategy and beat your personal High Score. It is the perfect way to relax, experiment with the physics engine, and test your architectural limits.</a:t>
            </a:r>
          </a:p>
          <a:p>
            <a:pPr marL="342900" indent="-342900">
              <a:lnSpc>
                <a:spcPct val="100000"/>
              </a:lnSpc>
              <a:buClr>
                <a:schemeClr val="tx1"/>
              </a:buClr>
              <a:buAutoNum type="arabicPeriod"/>
            </a:pPr>
            <a:r>
              <a:rPr lang="en-US" sz="19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t>
            </a:r>
            <a:r>
              <a:rPr lang="en-US" sz="19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Local Multiplayer</a:t>
            </a:r>
            <a:r>
              <a:rPr lang="en-US" sz="19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Want to challenge a friend? The game works perfectly as a local "couch co-op" experience: </a:t>
            </a:r>
            <a:br>
              <a:rPr lang="en-US" sz="19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br>
            <a:r>
              <a:rPr lang="en-US" sz="19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r>
              <a:rPr lang="en-US" sz="19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The Loop</a:t>
            </a:r>
            <a:r>
              <a:rPr lang="en-US" sz="19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Hand your phone to a friend and let them build a level for you. Once they hit "Start," they pass the device back, and you have to destroy their creation. Then, reverse the roles!</a:t>
            </a:r>
            <a:br>
              <a:rPr lang="en-US" sz="19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br>
            <a:r>
              <a:rPr lang="en-US" sz="19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r>
              <a:rPr lang="en-US" sz="1900" dirty="0">
                <a:solidFill>
                  <a:srgbClr val="92D050"/>
                </a:solidFill>
                <a:latin typeface="ADLaM Display" panose="02010000000000000000" pitchFamily="2" charset="0"/>
                <a:ea typeface="ADLaM Display" panose="02010000000000000000" pitchFamily="2" charset="0"/>
                <a:cs typeface="ADLaM Display" panose="02010000000000000000" pitchFamily="2" charset="0"/>
              </a:rPr>
              <a:t>Challenge Idea</a:t>
            </a:r>
            <a:r>
              <a:rPr lang="en-US" sz="19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Set a rule - for example, both players get 3 minutes to build a fortified structure using the same number of Scoring Meshes. Swap phones (or use just one phone), play the levels and compare your final scores to see who is the ultimate champion.</a:t>
            </a:r>
          </a:p>
        </p:txBody>
      </p:sp>
      <p:pic>
        <p:nvPicPr>
          <p:cNvPr id="3" name="Picture 2">
            <a:extLst>
              <a:ext uri="{FF2B5EF4-FFF2-40B4-BE49-F238E27FC236}">
                <a16:creationId xmlns:a16="http://schemas.microsoft.com/office/drawing/2014/main" id="{8FBC228C-5465-597E-3659-3B1E74AA3D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064" y="895927"/>
            <a:ext cx="4235062" cy="5080000"/>
          </a:xfrm>
          <a:prstGeom prst="rect">
            <a:avLst/>
          </a:prstGeom>
          <a:effectLst>
            <a:glow rad="152400">
              <a:schemeClr val="tx1">
                <a:alpha val="90000"/>
              </a:schemeClr>
            </a:glow>
          </a:effectLst>
        </p:spPr>
      </p:pic>
    </p:spTree>
    <p:extLst>
      <p:ext uri="{BB962C8B-B14F-4D97-AF65-F5344CB8AC3E}">
        <p14:creationId xmlns:p14="http://schemas.microsoft.com/office/powerpoint/2010/main" val="35754427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17A0BA-432E-EE7F-2CE2-B9F548324EBE}"/>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A8FCB04-0FB2-4D07-E977-D7E0ED4BB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1F2E830-0771-FA7E-8DA9-D6109F100A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83E6FC09-1E4B-C26D-EADC-32D22CBF0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473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1">
            <a:extLst>
              <a:ext uri="{FF2B5EF4-FFF2-40B4-BE49-F238E27FC236}">
                <a16:creationId xmlns:a16="http://schemas.microsoft.com/office/drawing/2014/main" id="{7F1EAFC3-01D7-C561-E444-06D9E5C7FECB}"/>
              </a:ext>
            </a:extLst>
          </p:cNvPr>
          <p:cNvSpPr txBox="1">
            <a:spLocks/>
          </p:cNvSpPr>
          <p:nvPr/>
        </p:nvSpPr>
        <p:spPr>
          <a:xfrm>
            <a:off x="4648742" y="395880"/>
            <a:ext cx="6164936" cy="69845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r>
              <a:rPr lang="en-US" sz="6000" b="1" u="sng" dirty="0">
                <a:effectLst>
                  <a:outerShdw blurRad="38100" dist="38100" dir="2700000" algn="tl">
                    <a:srgbClr val="000000">
                      <a:alpha val="43137"/>
                    </a:srgbClr>
                  </a:outerShdw>
                </a:effectLst>
                <a:latin typeface="ADLaM Display" panose="02010000000000000000" pitchFamily="2" charset="0"/>
                <a:ea typeface="ADLaM Display" panose="02010000000000000000" pitchFamily="2" charset="0"/>
                <a:cs typeface="ADLaM Display" panose="02010000000000000000" pitchFamily="2" charset="0"/>
              </a:rPr>
              <a:t>Game Showcase</a:t>
            </a:r>
          </a:p>
        </p:txBody>
      </p:sp>
      <p:sp>
        <p:nvSpPr>
          <p:cNvPr id="28" name="Title 1">
            <a:extLst>
              <a:ext uri="{FF2B5EF4-FFF2-40B4-BE49-F238E27FC236}">
                <a16:creationId xmlns:a16="http://schemas.microsoft.com/office/drawing/2014/main" id="{F6FA5A2E-0B37-BEEE-4BC0-E3E0E6B2BFF8}"/>
              </a:ext>
            </a:extLst>
          </p:cNvPr>
          <p:cNvSpPr txBox="1">
            <a:spLocks/>
          </p:cNvSpPr>
          <p:nvPr/>
        </p:nvSpPr>
        <p:spPr>
          <a:xfrm>
            <a:off x="4648742" y="895927"/>
            <a:ext cx="7543258" cy="5962073"/>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nSpc>
                <a:spcPct val="100000"/>
              </a:lnSpc>
            </a:pP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TextBox 5">
            <a:extLst>
              <a:ext uri="{FF2B5EF4-FFF2-40B4-BE49-F238E27FC236}">
                <a16:creationId xmlns:a16="http://schemas.microsoft.com/office/drawing/2014/main" id="{A9F54DF6-FB23-737B-72C5-961C2AE577D6}"/>
              </a:ext>
            </a:extLst>
          </p:cNvPr>
          <p:cNvSpPr txBox="1"/>
          <p:nvPr/>
        </p:nvSpPr>
        <p:spPr>
          <a:xfrm>
            <a:off x="970165" y="4103180"/>
            <a:ext cx="2644404" cy="923330"/>
          </a:xfrm>
          <a:prstGeom prst="rect">
            <a:avLst/>
          </a:prstGeom>
          <a:noFill/>
        </p:spPr>
        <p:txBody>
          <a:bodyPr wrap="square" rtlCol="0">
            <a:spAutoFit/>
          </a:bodyPr>
          <a:lstStyle/>
          <a:p>
            <a:r>
              <a:rPr lang="en-US" sz="5400" dirty="0">
                <a:solidFill>
                  <a:srgbClr val="4CBEDD"/>
                </a:solidFill>
                <a:latin typeface="ADLaM Display" panose="02010000000000000000" pitchFamily="2" charset="0"/>
                <a:ea typeface="ADLaM Display" panose="02010000000000000000" pitchFamily="2" charset="0"/>
                <a:cs typeface="ADLaM Display" panose="02010000000000000000" pitchFamily="2" charset="0"/>
                <a:hlinkClick r:id="rId2">
                  <a:extLst>
                    <a:ext uri="{A12FA001-AC4F-418D-AE19-62706E023703}">
                      <ahyp:hlinkClr xmlns:ahyp="http://schemas.microsoft.com/office/drawing/2018/hyperlinkcolor" val="tx"/>
                    </a:ext>
                  </a:extLst>
                </a:hlinkClick>
              </a:rPr>
              <a:t>DEMO</a:t>
            </a:r>
            <a:endParaRPr lang="en-US" sz="5400" dirty="0">
              <a:solidFill>
                <a:srgbClr val="4CBEDD"/>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a:hlinkClick r:id="rId2"/>
            <a:extLst>
              <a:ext uri="{FF2B5EF4-FFF2-40B4-BE49-F238E27FC236}">
                <a16:creationId xmlns:a16="http://schemas.microsoft.com/office/drawing/2014/main" id="{EFB26241-B623-A670-DD9D-FDAD7E152660}"/>
              </a:ext>
            </a:extLst>
          </p:cNvPr>
          <p:cNvPicPr>
            <a:picLocks noChangeAspect="1"/>
          </p:cNvPicPr>
          <p:nvPr/>
        </p:nvPicPr>
        <p:blipFill>
          <a:blip r:embed="rId3"/>
          <a:stretch>
            <a:fillRect/>
          </a:stretch>
        </p:blipFill>
        <p:spPr>
          <a:xfrm>
            <a:off x="1385479" y="1869317"/>
            <a:ext cx="1496265" cy="2007646"/>
          </a:xfrm>
          <a:prstGeom prst="rect">
            <a:avLst/>
          </a:prstGeom>
          <a:effectLst>
            <a:glow rad="152400">
              <a:schemeClr val="tx1">
                <a:alpha val="90000"/>
              </a:schemeClr>
            </a:glow>
          </a:effectLst>
        </p:spPr>
      </p:pic>
      <p:sp>
        <p:nvSpPr>
          <p:cNvPr id="13" name="Title 1">
            <a:extLst>
              <a:ext uri="{FF2B5EF4-FFF2-40B4-BE49-F238E27FC236}">
                <a16:creationId xmlns:a16="http://schemas.microsoft.com/office/drawing/2014/main" id="{15C186C1-55A7-C26D-EF45-0115A6504806}"/>
              </a:ext>
            </a:extLst>
          </p:cNvPr>
          <p:cNvSpPr txBox="1">
            <a:spLocks/>
          </p:cNvSpPr>
          <p:nvPr/>
        </p:nvSpPr>
        <p:spPr>
          <a:xfrm>
            <a:off x="4616738" y="1243754"/>
            <a:ext cx="7412194" cy="5218366"/>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nSpc>
                <a:spcPct val="100000"/>
              </a:lnSpc>
              <a:buClr>
                <a:srgbClr val="FF0000"/>
              </a:buClr>
            </a:pPr>
            <a:r>
              <a:rPr lang="en-US" sz="2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To bring all the mechanics we just discussed together, I have prepared a comprehensive gameplay demonstration.</a:t>
            </a:r>
          </a:p>
          <a:p>
            <a:pPr>
              <a:lnSpc>
                <a:spcPct val="100000"/>
              </a:lnSpc>
              <a:buClr>
                <a:srgbClr val="FF0000"/>
              </a:buClr>
            </a:pPr>
            <a:r>
              <a:rPr lang="en-US" sz="2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t>
            </a:r>
            <a:r>
              <a:rPr lang="en-US" sz="24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The Demo</a:t>
            </a:r>
            <a:r>
              <a:rPr lang="en-US" sz="2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This video captures a full 5-minute session, taking you through the entire game loop - from scanning the environment and building a fortress to the final physics-based destruction. </a:t>
            </a:r>
          </a:p>
          <a:p>
            <a:pPr>
              <a:lnSpc>
                <a:spcPct val="100000"/>
              </a:lnSpc>
              <a:buClr>
                <a:srgbClr val="FF0000"/>
              </a:buClr>
            </a:pPr>
            <a:r>
              <a:rPr lang="en-US" sz="2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t>
            </a:r>
            <a:r>
              <a:rPr lang="en-US" sz="24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Real-Time Performance</a:t>
            </a:r>
            <a:r>
              <a:rPr lang="en-US" sz="2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The footage was recorded directly on a Samsung S10, demonstrating the game's stability and responsiveness on standard mobile hardware.</a:t>
            </a:r>
          </a:p>
          <a:p>
            <a:pPr>
              <a:lnSpc>
                <a:spcPct val="100000"/>
              </a:lnSpc>
              <a:buClr>
                <a:srgbClr val="FF0000"/>
              </a:buClr>
            </a:pPr>
            <a:r>
              <a:rPr lang="en-US" sz="2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a:t>
            </a:r>
            <a:r>
              <a:rPr lang="en-US" sz="24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Watch Now</a:t>
            </a:r>
            <a:r>
              <a:rPr lang="en-US" sz="2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 Please click the link on the left to experience the full gameplay showcase.</a:t>
            </a:r>
          </a:p>
        </p:txBody>
      </p:sp>
    </p:spTree>
    <p:extLst>
      <p:ext uri="{BB962C8B-B14F-4D97-AF65-F5344CB8AC3E}">
        <p14:creationId xmlns:p14="http://schemas.microsoft.com/office/powerpoint/2010/main" val="3075128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BDEE19-0EDA-D434-A915-6D540FAC5253}"/>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3F683C-4BF4-5F98-6768-9D27D7C33D73}"/>
              </a:ext>
            </a:extLst>
          </p:cNvPr>
          <p:cNvSpPr>
            <a:spLocks noGrp="1"/>
          </p:cNvSpPr>
          <p:nvPr>
            <p:ph type="ctrTitle"/>
          </p:nvPr>
        </p:nvSpPr>
        <p:spPr>
          <a:xfrm>
            <a:off x="1614516" y="688424"/>
            <a:ext cx="10058400" cy="3892168"/>
          </a:xfrm>
        </p:spPr>
        <p:txBody>
          <a:bodyPr>
            <a:normAutofit/>
          </a:bodyPr>
          <a:lstStyle/>
          <a:p>
            <a:r>
              <a:rPr lang="en-US" sz="8800" b="1" dirty="0">
                <a:latin typeface="ADLaM Display" panose="020F0502020204030204" pitchFamily="2" charset="0"/>
                <a:ea typeface="ADLaM Display" panose="020F0502020204030204" pitchFamily="2" charset="0"/>
                <a:cs typeface="ADLaM Display" panose="020F0502020204030204" pitchFamily="2" charset="0"/>
              </a:rPr>
              <a:t>Lavash - The End</a:t>
            </a:r>
            <a:endParaRPr lang="en-US" sz="8800" b="1" dirty="0"/>
          </a:p>
        </p:txBody>
      </p:sp>
      <p:sp>
        <p:nvSpPr>
          <p:cNvPr id="23" name="Rectangle 22">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Subtitle 2">
            <a:extLst>
              <a:ext uri="{FF2B5EF4-FFF2-40B4-BE49-F238E27FC236}">
                <a16:creationId xmlns:a16="http://schemas.microsoft.com/office/drawing/2014/main" id="{89F7D606-06E6-D3DD-62CC-5CC926B36176}"/>
              </a:ext>
            </a:extLst>
          </p:cNvPr>
          <p:cNvSpPr>
            <a:spLocks noGrp="1"/>
          </p:cNvSpPr>
          <p:nvPr>
            <p:ph type="subTitle" idx="1"/>
          </p:nvPr>
        </p:nvSpPr>
        <p:spPr>
          <a:xfrm>
            <a:off x="4221941" y="5598076"/>
            <a:ext cx="3444239" cy="1143000"/>
          </a:xfrm>
        </p:spPr>
        <p:txBody>
          <a:bodyPr>
            <a:normAutofit/>
          </a:bodyPr>
          <a:lstStyle/>
          <a:p>
            <a:r>
              <a:rPr lang="en-US" sz="3600" dirty="0">
                <a:solidFill>
                  <a:srgbClr val="FFFFFF"/>
                </a:solidFill>
                <a:latin typeface="ADLaM Display" panose="02010000000000000000" pitchFamily="2" charset="0"/>
                <a:ea typeface="ADLaM Display" panose="02010000000000000000" pitchFamily="2" charset="0"/>
                <a:cs typeface="ADLaM Display" panose="02010000000000000000" pitchFamily="2" charset="0"/>
              </a:rPr>
              <a:t>Thank you!</a:t>
            </a:r>
          </a:p>
        </p:txBody>
      </p:sp>
      <p:sp>
        <p:nvSpPr>
          <p:cNvPr id="25" name="Rectangle 24">
            <a:extLst>
              <a:ext uri="{FF2B5EF4-FFF2-40B4-BE49-F238E27FC236}">
                <a16:creationId xmlns:a16="http://schemas.microsoft.com/office/drawing/2014/main" id="{1F3985C0-E548-44D2-B30E-F3E42DADE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683246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TM02900769[[fn=Retrospect]]</Template>
  <TotalTime>301</TotalTime>
  <Words>1972</Words>
  <Application>Microsoft Office PowerPoint</Application>
  <PresentationFormat>Widescreen</PresentationFormat>
  <Paragraphs>74</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ADLaM Display</vt:lpstr>
      <vt:lpstr>Calibri</vt:lpstr>
      <vt:lpstr>Calibri Light</vt:lpstr>
      <vt:lpstr>Retrospect</vt:lpstr>
      <vt:lpstr>Lavash - AR Game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Lavash - 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Codarcea Alexandru</dc:creator>
  <cp:lastModifiedBy>Codarcea Alexandru</cp:lastModifiedBy>
  <cp:revision>1</cp:revision>
  <dcterms:created xsi:type="dcterms:W3CDTF">2026-01-03T12:54:39Z</dcterms:created>
  <dcterms:modified xsi:type="dcterms:W3CDTF">2026-01-03T17:55:51Z</dcterms:modified>
</cp:coreProperties>
</file>